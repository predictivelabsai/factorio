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F5D43"/>
                </a:solidFill>
              </a:rPr>
              <a:t>Factorio для Universalbank</a:t>
            </a:r>
          </a:p>
          <a:p>
            <a:r>
              <a:rPr sz="2000">
                <a:solidFill>
                  <a:srgbClr val="415046"/>
                </a:solidFill>
              </a:rPr>
              <a:t>Факторинг на базе ИИ · SPV для международных инвесторов · выход в ОАЭ</a:t>
            </a:r>
          </a:p>
          <a:p>
            <a:r>
              <a:rPr sz="1300">
                <a:solidFill>
                  <a:srgbClr val="14231B"/>
                </a:solidFill>
              </a:rPr>
              <a:t>Предложение от Consistente Ltd построить и эксплуатировать для Universalbank платформу факторинга нового поколения (white-label) — эффективнее действующего решения, с оплатой только за объём, с ИИ-ядром, SPV для международных инвесторов и выходом в ОАЭ.</a:t>
            </a:r>
          </a:p>
          <a:p>
            <a:r>
              <a:rPr sz="1100">
                <a:solidFill>
                  <a:srgbClr val="415046"/>
                </a:solidFill>
              </a:rPr>
              <a:t>Подготовлено Consistente Ltd · Таллин · info@consistente.tech · consistente.tech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КРАТКОЕ РЕЗЮМЕ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FFFFFF"/>
                </a:solidFill>
              </a:rPr>
              <a:t>   Три шага, одна платформа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14231B"/>
                </a:solidFill>
              </a:rPr>
              <a:t>•  Разрыв. Каждый узбекский банк арендует факторинговый продукт у OzPlanet или FinMakon — включая Universalbank (соглашение с OzPlanet, сент. 2024). Никто не владеет продуктом, отношениями с клиентом и данными.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4231B"/>
                </a:solidFill>
              </a:rPr>
              <a:t>•  1 · Владеть платформой. White-label ИИ-платформа, которую Universalbank ведёт под своим брендом — банк владеет продуктом, клиентами и данными — с оплатой только за профинансированный объём.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4231B"/>
                </a:solidFill>
              </a:rPr>
              <a:t>•  2 · Международный капитал. Модуль SPV позволяет глобальным — и прежде всего инвесторам Залива — финансировать узбекскую дебиторку. OzPlanet и FinMakon не принимают иностранные или розничные деньги, поэтому это чистый, незанятый дифференциатор.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4231B"/>
                </a:solidFill>
              </a:rPr>
              <a:t>•  3 · Выход в ОАЭ. SPV в DIFC и поэтапная исламская программа (Мурабаха → Вакала → Сукук) для доступа к исламскому капиталу Дубая / DIFC.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4231B"/>
                </a:solidFill>
              </a:rPr>
              <a:t>•  Декомпозируемо и уже работает. Сначала запускаем origination, слой инвесторов / SPV добавляем позже — а триаж заявок и отчётность в чате уже работают в приложении.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ВОЗМОЖНОСТЬ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FFFFFF"/>
                </a:solidFill>
              </a:rPr>
              <a:t>   Узбекистан построил идеальную инфраструктуру для факторинга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14231B"/>
                </a:solidFill>
              </a:rPr>
              <a:t>•  SoliqOnline — платформа Государственного налогового комитета — с января 2020 года проверяет, фиксирует по времени и архивирует каждую B2B-электронную счёт-фактуру в стране.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4231B"/>
                </a:solidFill>
              </a:rPr>
              <a:t>•  Didox подключает к ней 350 000+ организаций и интегрируется с 1С — готовая база поставщиков, уже обменивающихся счетами в электронном виде.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4231B"/>
                </a:solidFill>
              </a:rPr>
              <a:t>•  Каждый счёт проверен государством и подтверждён покупателем в официальном реестре — мошенничество и подтверждение дебитора, самые сложные проблемы факторинга, решены у источника.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4231B"/>
                </a:solidFill>
              </a:rPr>
              <a:t>•  Рынок быстро растёт: ЦБ сообщает о ~10,6 трлн сум (~$835 млн) факторинга за янв–сен 2025, около половины — цифровой, при адресном рынке ~$2 млрд с всё ещё низким проникновением.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ПОЧЕМУ СЕЙЧАС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FFFFFF"/>
                </a:solidFill>
              </a:rPr>
              <a:t>   Регуляторное окно открыто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14231B"/>
                </a:solidFill>
              </a:rPr>
              <a:t>•  Указ Президента № 106 (авг. 2024) обязал банки предоставлять факторинг.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4231B"/>
                </a:solidFill>
              </a:rPr>
              <a:t>•  ЗРУ-1058 (апр. 2025) внёс поправки в Гражданский кодекс, придав факторингу полную юридическую силу, и обязал автоматически регистрировать залоговый приоритет банка в реестре ЦБ РУз по API — примерно в течение часа после одобрения.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4231B"/>
                </a:solidFill>
              </a:rPr>
              <a:t>•  Новая лицензия не требуется: действующая лицензия ЦБ у Universalbank это покрывает; Factorio работает как white-label-технология под эгидой банка.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4231B"/>
                </a:solidFill>
              </a:rPr>
              <a:t>•  Ни один узбекский банк ещё не построил промышленный факторинговый стек на SoliqOnline с ИИ-ядром — первопроходец получает структурное преимущество.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ДЕЙСТВУЮЩИЕ ИГРОКИ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FFFFFF"/>
                </a:solidFill>
              </a:rPr>
              <a:t>   OzPlanet и FinMakon владеют рынком — как агрегаторы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828800"/>
          <a:ext cx="108356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8910"/>
                <a:gridCol w="2708910"/>
                <a:gridCol w="2708910"/>
                <a:gridCol w="270891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Параметр</a:t>
                      </a:r>
                    </a:p>
                  </a:txBody>
                  <a:tcPr>
                    <a:solidFill>
                      <a:srgbClr val="1F5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OzPlanet</a:t>
                      </a:r>
                    </a:p>
                  </a:txBody>
                  <a:tcPr>
                    <a:solidFill>
                      <a:srgbClr val="1F5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FinMakon</a:t>
                      </a:r>
                    </a:p>
                  </a:txBody>
                  <a:tcPr>
                    <a:solidFill>
                      <a:srgbClr val="1F5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Factorio (Consistente)</a:t>
                      </a:r>
                    </a:p>
                  </a:txBody>
                  <a:tcPr>
                    <a:solidFill>
                      <a:srgbClr val="1F5D4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Модель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Агрегатор; ставки банка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Агрегатор (при Didox)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White-label маркетплейс — владеет банк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Доля в цифре (Q3 2025)</a:t>
                      </a:r>
                    </a:p>
                  </a:txBody>
                  <a:tcPr>
                    <a:solidFill>
                      <a:srgbClr val="EEED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56% цифрового объёма</a:t>
                      </a:r>
                    </a:p>
                  </a:txBody>
                  <a:tcPr>
                    <a:solidFill>
                      <a:srgbClr val="EEED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44% цифрового объёма</a:t>
                      </a:r>
                    </a:p>
                  </a:txBody>
                  <a:tcPr>
                    <a:solidFill>
                      <a:srgbClr val="EEED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Новичок — набирает долю</a:t>
                      </a:r>
                    </a:p>
                  </a:txBody>
                  <a:tcPr>
                    <a:solidFill>
                      <a:srgbClr val="EEEDE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Источники капитала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Только банки / МФО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Банки / факторинг-компании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Банки + инвесторы + розница + SPV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Иностр. / розн. капитал</a:t>
                      </a:r>
                    </a:p>
                  </a:txBody>
                  <a:tcPr>
                    <a:solidFill>
                      <a:srgbClr val="EEED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Нет</a:t>
                      </a:r>
                    </a:p>
                  </a:txBody>
                  <a:tcPr>
                    <a:solidFill>
                      <a:srgbClr val="EEED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Нет</a:t>
                      </a:r>
                    </a:p>
                  </a:txBody>
                  <a:tcPr>
                    <a:solidFill>
                      <a:srgbClr val="EEED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Да — SPV + маркетплейс</a:t>
                      </a:r>
                    </a:p>
                  </a:txBody>
                  <a:tcPr>
                    <a:solidFill>
                      <a:srgbClr val="EEEDE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Банк владеет продуктом и данными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Нет — владеет OzPlanet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Нет — владеет FinMakon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Да — полностью банка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ИИ-ядро</a:t>
                      </a:r>
                    </a:p>
                  </a:txBody>
                  <a:tcPr>
                    <a:solidFill>
                      <a:srgbClr val="EEED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Правила; зачаточно</a:t>
                      </a:r>
                    </a:p>
                  </a:txBody>
                  <a:tcPr>
                    <a:solidFill>
                      <a:srgbClr val="EEED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Зачаточно</a:t>
                      </a:r>
                    </a:p>
                  </a:txBody>
                  <a:tcPr>
                    <a:solidFill>
                      <a:srgbClr val="EEED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Grok: триаж + отчётность, обработка документов</a:t>
                      </a:r>
                    </a:p>
                  </a:txBody>
                  <a:tcPr>
                    <a:solidFill>
                      <a:srgbClr val="EEEDE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Цена для банка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Комиссия за транзакцию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Комиссия за транзакцию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Только б.п. от объёма (без SaaS)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0350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415046"/>
                </a:solidFill>
              </a:rPr>
              <a:t>Universalbank уже подписал соглашение о сотрудничестве с OzPlanet (сент. 2024) — то есть знает модель. Смысл этого предложения — не арендовать более удобный агрегатор, а владеть продуктом полностью. (Данные рынка: ЦБ, Q3 2025.)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СТРАТЕГИЧЕСКИЙ РАЗРЫВ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FFFFFF"/>
                </a:solidFill>
              </a:rPr>
              <a:t>   Ни один узбекский банк не владеет своим факторингом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14231B"/>
                </a:solidFill>
              </a:rPr>
              <a:t>•  Сегодня банк, подключённый к OzPlanet или FinMakon, — это партнёр по финансированию на чужой платформе: агрегатор владеет брендом, отношениями с клиентом и данными.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4231B"/>
                </a:solidFill>
              </a:rPr>
              <a:t>•  Это стратегическая зависимость: банк не может дифференцироваться, не может продавать по своим данным и не может сменить поставщика, не потеряв клиентов.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4231B"/>
                </a:solidFill>
              </a:rPr>
              <a:t>•  Factorio это переворачивает. Universalbank ведёт платформу под своим брендом, владеет всеми клиентскими и транзакционными данными и может их выгрузить и перенести — без привязки к платформе.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4231B"/>
                </a:solidFill>
              </a:rPr>
              <a:t>•  Та же гос. инфраструктура (SoliqOnline, реестр ЦБ), та же скорость — но банк владеет активом, а не арендует рельсы. Именно это владение и есть продукт.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КАК ЭТО РАБОТАЕТ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FFFFFF"/>
                </a:solidFill>
              </a:rPr>
              <a:t>   Как движутся деньги — и кто получает оплату</a:t>
            </a:r>
          </a:p>
        </p:txBody>
      </p:sp>
      <p:pic>
        <p:nvPicPr>
          <p:cNvPr id="5" name="Picture 4" descr="ru-15-money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57821"/>
            <a:ext cx="6583680" cy="16225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55080"/>
            <a:ext cx="6583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i="1">
                <a:solidFill>
                  <a:srgbClr val="415046"/>
                </a:solidFill>
              </a:rPr>
              <a:t>Поток денег и платежей — продавец, плательщик (дебитор), платформа, капитал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828800"/>
            <a:ext cx="4480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4231B"/>
                </a:solidFill>
              </a:rPr>
              <a:t>•  Плательщик (дебитор) — якорь: конкретное, подтверждённое покупателем обязательство в реестре SoliqOnline.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4231B"/>
                </a:solidFill>
              </a:rPr>
              <a:t>•  Платформа выдаёт ~85% сразу из источника капитала (банк, инвестор или SPV); в срок плательщик гасит 100%, и водопад платит продавцу, капиталу и платформе.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4231B"/>
                </a:solidFill>
              </a:rPr>
              <a:t>•  Поскольку поток одинаков независимо от источника финансирования, слой капитала подключаемый — сначала банк, инвесторы/SPV позже.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НАПРАВЛЕНИЕ 1 · ЛУЧШАЯ ПЛАТФОРМА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FFFFFF"/>
                </a:solidFill>
              </a:rPr>
              <a:t>   ИИ в основе, а не сбоку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14231B"/>
                </a:solidFill>
              </a:rPr>
              <a:t>•  Тот же сквозной процесс факторинга — подача, проверка, финансирование, расчёт — но с ИИ в триаже, скоринге, документах и отчётности.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4231B"/>
                </a:solidFill>
              </a:rPr>
              <a:t>•  На лёгком серверном стеке (FastHTML + PostgreSQL) — быстро менять, дёшево эксплуатировать, легко брендировать под банк.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4231B"/>
                </a:solidFill>
              </a:rPr>
              <a:t>•  Трёхъязычность заложена в дизайн (английский · узбекский · русский); ИИ отвечает на языке пользователя.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4231B"/>
                </a:solidFill>
              </a:rPr>
              <a:t>•  Следующие три слайда раскрывают ИИ, движок кредитного скоринга и коммерческую модель.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ПУТЬ · ЗАЁМЩИК (ORIGINATION)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FFFFFF"/>
                </a:solidFill>
              </a:rPr>
              <a:t>   Путь продавца — от регистрации до денег за 24–48 ч</a:t>
            </a:r>
          </a:p>
        </p:txBody>
      </p:sp>
      <p:pic>
        <p:nvPicPr>
          <p:cNvPr id="5" name="Picture 4" descr="ru-16-origination-jour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903253"/>
            <a:ext cx="6583680" cy="3316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55080"/>
            <a:ext cx="6583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i="1">
                <a:solidFill>
                  <a:srgbClr val="415046"/>
                </a:solidFill>
              </a:rPr>
              <a:t>Origination: импорт из SoliqOnline → AI-триаж → одобрение в один клик → аванс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828800"/>
            <a:ext cx="4480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4231B"/>
                </a:solidFill>
              </a:rPr>
              <a:t>•  Ручное участие банка — один клик одобрения на заранее заполненном экране; всё остальное автоматизировано.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4231B"/>
                </a:solidFill>
              </a:rPr>
              <a:t>•  Счёт импортируется и проверяется из SoliqOnline; дебитор скорится; залог регистрируется в ЦБ менее чем за 60 минут.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4231B"/>
                </a:solidFill>
              </a:rPr>
              <a:t>•  Это Модуль A — он самодостаточен и может быть запущен первым, полностью за счёт баланса банка.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НАПРАВЛЕНИЕ 1 · 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FFFFFF"/>
                </a:solidFill>
              </a:rPr>
              <a:t>   Две разговорные поверхности, одно ядро Grok</a:t>
            </a:r>
          </a:p>
        </p:txBody>
      </p:sp>
      <p:pic>
        <p:nvPicPr>
          <p:cNvPr id="5" name="Picture 4" descr="d2-ai-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366474"/>
            <a:ext cx="6583680" cy="14052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55080"/>
            <a:ext cx="6583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i="1">
                <a:solidFill>
                  <a:srgbClr val="415046"/>
                </a:solidFill>
              </a:rPr>
              <a:t>Триаж заявок в чате и отчётность для инвесторов в чате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828800"/>
            <a:ext cx="4480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4231B"/>
                </a:solidFill>
              </a:rPr>
              <a:t>•  Триаж превращает описание продавца на естественном языке в индикативный рейтинг, ставку аванса и список документов — за секунды.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4231B"/>
                </a:solidFill>
              </a:rPr>
              <a:t>•  Отчётность отвечает на вопросы инвестора на основе его реальных позиций — без выдуманных цифр.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4231B"/>
                </a:solidFill>
              </a:rPr>
              <a:t>•  Grok оценивает и объясняет; финальное решение всегда за человеком. Каждое решение ИИ логируется и проверяемо.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НАПРАВЛЕНИЕ 1 · КРЕДИТНЫЙ СКОРИНГ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FFFFFF"/>
                </a:solidFill>
              </a:rPr>
              <a:t>   Скоринг в духе open banking, узбекская версия</a:t>
            </a:r>
          </a:p>
        </p:txBody>
      </p:sp>
      <p:pic>
        <p:nvPicPr>
          <p:cNvPr id="5" name="Picture 4" descr="d3-sc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192925"/>
            <a:ext cx="6583680" cy="17523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55080"/>
            <a:ext cx="6583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i="1">
                <a:solidFill>
                  <a:srgbClr val="415046"/>
                </a:solidFill>
              </a:rPr>
              <a:t>Слияние данных в стиле Plaid, адаптированное к инфраструктуре Узбекистана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828800"/>
            <a:ext cx="4480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4231B"/>
                </a:solidFill>
              </a:rPr>
              <a:t>•  Модель Plaid — это подключи счёт, прочитай денежные потоки, прими решение. В Узбекистане богатейший источник — SoliqOnline (проверенные счета и налоговый оборот) плюс банковские транзакции и бюро CRIF.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4231B"/>
                </a:solidFill>
              </a:rPr>
              <a:t>•  Модель выдаёт рейтинг, ставку аванса и цену; Grok формирует понятное обоснование и причины отказа.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4231B"/>
                </a:solidFill>
              </a:rPr>
              <a:t>•  Каждое решение версионируется и воспроизводимо — ключевая методология Consistente и то, что запросит регулятор.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ЭКОНОМИКА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FFFFFF"/>
                </a:solidFill>
              </a:rPr>
              <a:t>   Что банк зарабатывает на одном счёте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828800"/>
          <a:ext cx="108356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8910"/>
                <a:gridCol w="2708910"/>
                <a:gridCol w="2708910"/>
                <a:gridCol w="270891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Поток · счёт $10 000 · 85% · 60 дн · 5%</a:t>
                      </a:r>
                    </a:p>
                  </a:txBody>
                  <a:tcPr>
                    <a:solidFill>
                      <a:srgbClr val="1F5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Сумма</a:t>
                      </a:r>
                    </a:p>
                  </a:txBody>
                  <a:tcPr>
                    <a:solidFill>
                      <a:srgbClr val="1F5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Направление</a:t>
                      </a:r>
                    </a:p>
                  </a:txBody>
                  <a:tcPr>
                    <a:solidFill>
                      <a:srgbClr val="1F5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День</a:t>
                      </a:r>
                    </a:p>
                  </a:txBody>
                  <a:tcPr>
                    <a:solidFill>
                      <a:srgbClr val="1F5D4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Аванс продавцу (85%)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$8 500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Платформа → продавец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День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Плательщик (дебитор) платит полностью</a:t>
                      </a:r>
                    </a:p>
                  </a:txBody>
                  <a:tcPr>
                    <a:solidFill>
                      <a:srgbClr val="EEED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$10 000</a:t>
                      </a:r>
                    </a:p>
                  </a:txBody>
                  <a:tcPr>
                    <a:solidFill>
                      <a:srgbClr val="EEED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Плательщик → сбор</a:t>
                      </a:r>
                    </a:p>
                  </a:txBody>
                  <a:tcPr>
                    <a:solidFill>
                      <a:srgbClr val="EEED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День 60</a:t>
                      </a:r>
                    </a:p>
                  </a:txBody>
                  <a:tcPr>
                    <a:solidFill>
                      <a:srgbClr val="EEEDE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Остаток продавцу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$1 500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Платформа → продавец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День 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Дисконтный доход (брутто)</a:t>
                      </a:r>
                    </a:p>
                  </a:txBody>
                  <a:tcPr>
                    <a:solidFill>
                      <a:srgbClr val="EEED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$500</a:t>
                      </a:r>
                    </a:p>
                  </a:txBody>
                  <a:tcPr>
                    <a:solidFill>
                      <a:srgbClr val="EEED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Капитал удерживает</a:t>
                      </a:r>
                    </a:p>
                  </a:txBody>
                  <a:tcPr>
                    <a:solidFill>
                      <a:srgbClr val="EEED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День 60</a:t>
                      </a:r>
                    </a:p>
                  </a:txBody>
                  <a:tcPr>
                    <a:solidFill>
                      <a:srgbClr val="EEEDE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Комиссия платформы (за объём)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≈ $13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Банк → Consistente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День 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Чистый доход по счёту</a:t>
                      </a:r>
                    </a:p>
                  </a:txBody>
                  <a:tcPr>
                    <a:solidFill>
                      <a:srgbClr val="EEED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≈ $487</a:t>
                      </a:r>
                    </a:p>
                  </a:txBody>
                  <a:tcPr>
                    <a:solidFill>
                      <a:srgbClr val="EEED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Капитал удерживает</a:t>
                      </a:r>
                    </a:p>
                  </a:txBody>
                  <a:tcPr>
                    <a:solidFill>
                      <a:srgbClr val="EEED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День 60</a:t>
                      </a:r>
                    </a:p>
                  </a:txBody>
                  <a:tcPr>
                    <a:solidFill>
                      <a:srgbClr val="EEEDE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Годовая доходность на капитал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≈ 30% год.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0350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415046"/>
                </a:solidFill>
              </a:rPr>
              <a:t>Иллюстративно, по стандартной структуре с проверкой SoliqOnline. ~30% годовых на размещённый капитал против 22–28% по необеспеченному кредитованию МСБ — при меньшем риске: счёт проверен государством, плательщик подтвердил обязательство, банк держит зарегистрированный приоритет в ЦБ. Банк прибылен вплоть до ~4% дефолтов.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НАПРАВЛЕНИЕ 1 · КОММЕРЧЕСКАЯ МОДЕЛЬ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FFFFFF"/>
                </a:solidFill>
              </a:rPr>
              <a:t>   Оплата только за объём — интересы совпадают с банком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828800"/>
          <a:ext cx="108356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7820"/>
                <a:gridCol w="541782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Месячный объём финансирования</a:t>
                      </a:r>
                    </a:p>
                  </a:txBody>
                  <a:tcPr>
                    <a:solidFill>
                      <a:srgbClr val="1F5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Комиссия платформы (б.п. от объёма)</a:t>
                      </a:r>
                    </a:p>
                  </a:txBody>
                  <a:tcPr>
                    <a:solidFill>
                      <a:srgbClr val="1F5D4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До 50 млрд сум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120 б.п.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50–200 млрд сум</a:t>
                      </a:r>
                    </a:p>
                  </a:txBody>
                  <a:tcPr>
                    <a:solidFill>
                      <a:srgbClr val="EEED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90 б.п.</a:t>
                      </a:r>
                    </a:p>
                  </a:txBody>
                  <a:tcPr>
                    <a:solidFill>
                      <a:srgbClr val="EEEDE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200–500 млрд сум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70 б.п.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Свыше 500 млрд сум</a:t>
                      </a:r>
                    </a:p>
                  </a:txBody>
                  <a:tcPr>
                    <a:solidFill>
                      <a:srgbClr val="EEED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55 б.п.</a:t>
                      </a:r>
                    </a:p>
                  </a:txBody>
                  <a:tcPr>
                    <a:solidFill>
                      <a:srgbClr val="EEEDE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0350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415046"/>
                </a:solidFill>
              </a:rPr>
              <a:t>Иллюстративно. Без SaaS-лицензии, без оплаты за место, без платы за внедрение — Consistente получает вознаграждение только когда банк финансирует счёт. Опции на столе: альтернатива с revenue-share (небольшой % дисконтного дохода банка вместо б.п.), 12-месячная эксклюзивность для банка в Узбекистане и отложенный опцион на долю в Год 3 в виде новых акций (без размытия, без прав в совете/вето). Модуль международного SPV: ~60 б.п. в год от инвестированных активов + доля от результата сверх порога. Итоговые цифры — по согласованию с Universalbank.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НАПРАВЛЕНИЕ 2 · МЕЖДУНАРОДНЫЙ КАПИТАЛ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FFFFFF"/>
                </a:solidFill>
              </a:rPr>
              <a:t>   SPV, открывающее узбекскую дебиторку миру</a:t>
            </a:r>
          </a:p>
        </p:txBody>
      </p:sp>
      <p:pic>
        <p:nvPicPr>
          <p:cNvPr id="5" name="Picture 4" descr="d4-sp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3762" y="1828800"/>
            <a:ext cx="3953435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55080"/>
            <a:ext cx="6583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i="1">
                <a:solidFill>
                  <a:srgbClr val="415046"/>
                </a:solidFill>
              </a:rPr>
              <a:t>Пул счетов → Factorio → SPV в DIFC → международные инвесторы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828800"/>
            <a:ext cx="4480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4231B"/>
                </a:solidFill>
              </a:rPr>
              <a:t>•  Universalbank остаётся оригинатором и сервисером; защищённое от банкротства SPV держит инвесторскую долю и направляет иностранный капитал в пул счетов.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4231B"/>
                </a:solidFill>
              </a:rPr>
              <a:t>•  Два трека на одной базе активов: конвенциональная нота/участие для институционалов и исламские структуры для капитала Залива.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4231B"/>
                </a:solidFill>
              </a:rPr>
              <a:t>•  Инвесторы получают ту же обоснованную ИИ-отчётность — на своём языке — плюс выписки и прозрачный аудиторский след.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ПУТЬ · ИНВЕСТОР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FFFFFF"/>
                </a:solidFill>
              </a:rPr>
              <a:t>   Путь инвестора — от онбординга до распределения</a:t>
            </a:r>
          </a:p>
        </p:txBody>
      </p:sp>
      <p:pic>
        <p:nvPicPr>
          <p:cNvPr id="5" name="Picture 4" descr="ru-17-investor-jour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66040"/>
            <a:ext cx="6583680" cy="40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55080"/>
            <a:ext cx="6583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i="1">
                <a:solidFill>
                  <a:srgbClr val="415046"/>
                </a:solidFill>
              </a:rPr>
              <a:t>Инвестор: онбординг → капитал → удержание с AI-отчётностью → выплата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828800"/>
            <a:ext cx="4480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4231B"/>
                </a:solidFill>
              </a:rPr>
              <a:t>•  Розничные, институциональные и инвесторы Залива проходят онбординг один раз (KYC / аккредитация), затем финансируют через маркетплейс или SPV.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4231B"/>
                </a:solidFill>
              </a:rPr>
              <a:t>•  Они держат позиции с AI-отчётностью по запросу; в срок основная сумма и доход распределяются автоматически.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4231B"/>
                </a:solidFill>
              </a:rPr>
              <a:t>•  Это Модуль B — он подключается к тому же движку origination позже, ничего не меняя для продавца или банка.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РЕАЛИЗАЦИЯ · ДЕКОМПОЗИРУЕМОСТЬ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FFFFFF"/>
                </a:solidFill>
              </a:rPr>
              <a:t>   Два модуля — берите один или оба, последовательно</a:t>
            </a:r>
          </a:p>
        </p:txBody>
      </p:sp>
      <p:pic>
        <p:nvPicPr>
          <p:cNvPr id="5" name="Picture 4" descr="ru-18-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706555"/>
            <a:ext cx="6583680" cy="72504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55080"/>
            <a:ext cx="6583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i="1">
                <a:solidFill>
                  <a:srgbClr val="415046"/>
                </a:solidFill>
              </a:rPr>
              <a:t>Origination (Модуль A) и Инвесторы/SPV (Модуль B) внедряются независимо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828800"/>
            <a:ext cx="4480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4231B"/>
                </a:solidFill>
              </a:rPr>
              <a:t>•  Модуль A — Origination может стать всей первой фазой Universalbank: факторинг за счёт банка, запуск за недели, немедленное выполнение требований Указа № 106.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4231B"/>
                </a:solidFill>
              </a:rPr>
              <a:t>•  Модуль B — Инвесторы и SPV добавляет маркетплейс и капитал DIFC/международный позже, поверх того же движка, без переделок.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4231B"/>
                </a:solidFill>
              </a:rPr>
              <a:t>•  Слой капитала — это стык: меняйте или добавляйте источники финансирования, не трогая origination — снижая риск программы и инвестиций.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НАПРАВЛЕНИЕ 3 · ВЫХОД В ОАЭ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FFFFFF"/>
                </a:solidFill>
              </a:rPr>
              <a:t>   Поэтапная исламская программа для капитала DIFC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828800"/>
          <a:ext cx="108356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7128"/>
                <a:gridCol w="2167128"/>
                <a:gridCol w="2167128"/>
                <a:gridCol w="2167128"/>
                <a:gridCol w="2167128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Критерий</a:t>
                      </a:r>
                    </a:p>
                  </a:txBody>
                  <a:tcPr>
                    <a:solidFill>
                      <a:srgbClr val="1F5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Мурабаха (SCF)</a:t>
                      </a:r>
                    </a:p>
                  </a:txBody>
                  <a:tcPr>
                    <a:solidFill>
                      <a:srgbClr val="1F5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Фонд Вакала</a:t>
                      </a:r>
                    </a:p>
                  </a:txBody>
                  <a:tcPr>
                    <a:solidFill>
                      <a:srgbClr val="1F5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Сукук</a:t>
                      </a:r>
                    </a:p>
                  </a:txBody>
                  <a:tcPr>
                    <a:solidFill>
                      <a:srgbClr val="1F5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Мушарака</a:t>
                      </a:r>
                    </a:p>
                  </a:txBody>
                  <a:tcPr>
                    <a:solidFill>
                      <a:srgbClr val="1F5D4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Шариатская чистота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Высокая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Высокая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Высокая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Наивысшая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Сложность</a:t>
                      </a:r>
                    </a:p>
                  </a:txBody>
                  <a:tcPr>
                    <a:solidFill>
                      <a:srgbClr val="EEED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Низкая</a:t>
                      </a:r>
                    </a:p>
                  </a:txBody>
                  <a:tcPr>
                    <a:solidFill>
                      <a:srgbClr val="EEED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Низк.–ср.</a:t>
                      </a:r>
                    </a:p>
                  </a:txBody>
                  <a:tcPr>
                    <a:solidFill>
                      <a:srgbClr val="EEED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Высокая</a:t>
                      </a:r>
                    </a:p>
                  </a:txBody>
                  <a:tcPr>
                    <a:solidFill>
                      <a:srgbClr val="EEED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Средняя</a:t>
                      </a:r>
                    </a:p>
                  </a:txBody>
                  <a:tcPr>
                    <a:solidFill>
                      <a:srgbClr val="EEEDE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Срок вывода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Самый быстрый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Быстро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Дольше всех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Средне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Привлекательность (Дубай)</a:t>
                      </a:r>
                    </a:p>
                  </a:txBody>
                  <a:tcPr>
                    <a:solidFill>
                      <a:srgbClr val="EEED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Средняя</a:t>
                      </a:r>
                    </a:p>
                  </a:txBody>
                  <a:tcPr>
                    <a:solidFill>
                      <a:srgbClr val="EEED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Высокая</a:t>
                      </a:r>
                    </a:p>
                  </a:txBody>
                  <a:tcPr>
                    <a:solidFill>
                      <a:srgbClr val="EEED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Очень высокая</a:t>
                      </a:r>
                    </a:p>
                  </a:txBody>
                  <a:tcPr>
                    <a:solidFill>
                      <a:srgbClr val="EEED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Высокая</a:t>
                      </a:r>
                    </a:p>
                  </a:txBody>
                  <a:tcPr>
                    <a:solidFill>
                      <a:srgbClr val="EEEDE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Капитал на сделку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Мал.–ср.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Средний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Крупный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Ср.–крупн.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Регуляторика</a:t>
                      </a:r>
                    </a:p>
                  </a:txBody>
                  <a:tcPr>
                    <a:solidFill>
                      <a:srgbClr val="EEED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Только фатва</a:t>
                      </a:r>
                    </a:p>
                  </a:txBody>
                  <a:tcPr>
                    <a:solidFill>
                      <a:srgbClr val="EEED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Фатва + фонд</a:t>
                      </a:r>
                    </a:p>
                  </a:txBody>
                  <a:tcPr>
                    <a:solidFill>
                      <a:srgbClr val="EEED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Фатва + DFSA</a:t>
                      </a:r>
                    </a:p>
                  </a:txBody>
                  <a:tcPr>
                    <a:solidFill>
                      <a:srgbClr val="EEED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Фатва + фонд</a:t>
                      </a:r>
                    </a:p>
                  </a:txBody>
                  <a:tcPr>
                    <a:solidFill>
                      <a:srgbClr val="EEEDE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Кому подходит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Пилот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Family office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Институционалы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Стратег. партнёры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0350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415046"/>
                </a:solidFill>
              </a:rPr>
              <a:t>Рекомендуемый путь: последовательно — пилот Мурабаха (M6–12) → фонд Вакала → Сукук. Каждый этап формирует историю, делающую следующий убедительным. Все требуют фатвы аккредитованного AAOIFI совета до запуска.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НАПРАВЛЕНИЕ 3 · ПОЧЕМУ ДУБАЙ / DIFC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FFFFFF"/>
                </a:solidFill>
              </a:rPr>
              <a:t>   Главное — спред доходности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14231B"/>
                </a:solidFill>
              </a:rPr>
              <a:t>•  Доходность узбекского факторинга ~20–30% годовых против исламского денежного рынка Залива ~4–6% — исключительный спред для такого риска благодаря структурной защите SoliqOnline.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4231B"/>
                </a:solidFill>
              </a:rPr>
              <a:t>•  Короткая дюрация (оборот 30–90 дней) редка и очень востребована у ликвидити-менеджеров Залива.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4231B"/>
                </a:solidFill>
              </a:rPr>
              <a:t>•  Узбекская дебиторка не коррелирует с недвижимостью Залива, региональными акциями или нефтью — настоящая диверсификация.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4231B"/>
                </a:solidFill>
              </a:rPr>
              <a:t>•  DIFC (DFSA) и ADGM (FSRA) имеют зрелые рамки исламских финансов и признают структуры SPV/Сукук; Федеральный декрет-закон № 50 от 2022 кодифицирует контракты.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АРХИТЕКТУРА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FFFFFF"/>
                </a:solidFill>
              </a:rPr>
              <a:t>   Один процесс, ИИ-нативный, готовый к интеграциям</a:t>
            </a:r>
          </a:p>
        </p:txBody>
      </p:sp>
      <p:pic>
        <p:nvPicPr>
          <p:cNvPr id="5" name="Picture 4" descr="d1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144483"/>
            <a:ext cx="6583680" cy="18491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55080"/>
            <a:ext cx="6583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i="1">
                <a:solidFill>
                  <a:srgbClr val="415046"/>
                </a:solidFill>
              </a:rPr>
              <a:t>Целевая архитектура системы с выделенными ИИ-компонентами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828800"/>
            <a:ext cx="4480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4231B"/>
                </a:solidFill>
              </a:rPr>
              <a:t>•  Единый процесс FastHTML обслуживает лендинг, приложение инвестора и ИИ-ассистентов; PostgreSQL хранит данные факторинга и ИИ.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4231B"/>
                </a:solidFill>
              </a:rPr>
              <a:t>•  Чистые точки интеграции с SoliqOnline/Didox, open banking, CRIF, реестром ЦБ и SPV/кастодианом в DIFC.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4231B"/>
                </a:solidFill>
              </a:rPr>
              <a:t>•  Grok (x.ai) подключается через OpenAI-совместимый интерфейс — id модели задаётся конфигурацией, что исключает привязку к вендору.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ДОКАЗАТЕЛЬСТВО · РАБОТАЕТ УЖЕ СЕГОДНЯ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FFFFFF"/>
                </a:solidFill>
              </a:rPr>
              <a:t>   ИИ — не слайд, он уже внедрён</a:t>
            </a:r>
          </a:p>
        </p:txBody>
      </p:sp>
      <p:pic>
        <p:nvPicPr>
          <p:cNvPr id="5" name="Picture 4" descr="ru-13-ai-tri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11680"/>
            <a:ext cx="658368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55080"/>
            <a:ext cx="6583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i="1">
                <a:solidFill>
                  <a:srgbClr val="415046"/>
                </a:solidFill>
              </a:rPr>
              <a:t>Действующий триаж счёта в чате в приложении Factorio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828800"/>
            <a:ext cx="4480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4231B"/>
                </a:solidFill>
              </a:rPr>
              <a:t>•  Продавец описывает счёт одним предложением; ассистент возвращает индикативный рейтинг, ставку аванса и список документов.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4231B"/>
                </a:solidFill>
              </a:rPr>
              <a:t>•  На базе Grok (x.ai), трёхъязычно, с корректным запасным поведением и полным аудитом — тот же подход расширяется на скоринг и отчётность.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РЕАЛИЗАЦИЯ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FFFFFF"/>
                </a:solidFill>
              </a:rPr>
              <a:t>   От прототипа к региональной платформе</a:t>
            </a:r>
          </a:p>
        </p:txBody>
      </p:sp>
      <p:pic>
        <p:nvPicPr>
          <p:cNvPr id="5" name="Picture 4" descr="d5-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740590"/>
            <a:ext cx="6583680" cy="6569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55080"/>
            <a:ext cx="6583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i="1">
                <a:solidFill>
                  <a:srgbClr val="415046"/>
                </a:solidFill>
              </a:rPr>
              <a:t>Поэтапный запуск — каждый этап финансирует следующий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828800"/>
            <a:ext cx="4480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4231B"/>
                </a:solidFill>
              </a:rPr>
              <a:t>•  Этап 0 (сейчас): прототип ИИ-триажа и отчётности работает.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4231B"/>
                </a:solidFill>
              </a:rPr>
              <a:t>•  Этапы 1–2 (M1–6): релиз платформы, интеграция SoliqOnline, скоринг на open banking, оплата за объём.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4231B"/>
                </a:solidFill>
              </a:rPr>
              <a:t>•  Этапы 3–4 (M6+): SPV в DIFC и первый международный капитал, затем последовательность Вакала → Сукук и региональный масштаб.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ПОЧЕМУ CONSISTENTE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FFFFFF"/>
                </a:solidFill>
              </a:rPr>
              <a:t>   Промышленный ИИ, поставляемый стабильно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14231B"/>
                </a:solidFill>
              </a:rPr>
              <a:t>•  Consistente Ltd (Таллин, ЕС) создаёт промышленный ИИ для предприятий — с воспроизводимыми пайплайнами, версионируемыми моделями и прозрачными промптами, а не «чёрные ящики».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4231B"/>
                </a:solidFill>
              </a:rPr>
              <a:t>•  Опыт в финансовых услугах и регулируемых секторах: LSEG, DBRS Morningstar, ARM, Microsoft.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4231B"/>
                </a:solidFill>
              </a:rPr>
              <a:t>•  Ключевые компетенции прямо ложатся на проект: интеллектуальная обработка документов, прикладной прогноз/скоринг и агентные процессы с проверкой человеком.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4231B"/>
                </a:solidFill>
              </a:rPr>
              <a:t>•  Базируется в ЕС, приоритет аудируемости — верный профиль для банка, строящего ИИ под надзором регулятора.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СЛЕДУЮЩИЕ ШАГИ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FFFFFF"/>
                </a:solidFill>
              </a:rPr>
              <a:t>   Что предлагаем сделать первым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14231B"/>
                </a:solidFill>
              </a:rPr>
              <a:t>•  1. Согласовать объём white-label и коммерческие условия на основе объёма.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4231B"/>
                </a:solidFill>
              </a:rPr>
              <a:t>•  2. Запустить пилот на реальных данных SoliqOnline; вывести платформу в релиз с ИИ-триажем и движком скоринга.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4231B"/>
                </a:solidFill>
              </a:rPr>
              <a:t>•  3. Параллельно начать подготовку SPV в DIFC и фатвы, чтобы международный капитал последовал за операционным портфелем.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4231B"/>
                </a:solidFill>
              </a:rPr>
              <a:t>•  Контакт: Consistente Ltd · info@consistente.tech · consistente.tech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