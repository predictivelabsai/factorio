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F5D43"/>
                </a:solidFill>
              </a:rPr>
              <a:t>Factorio для Universalbank</a:t>
            </a:r>
          </a:p>
          <a:p>
            <a:r>
              <a:rPr sz="2000">
                <a:solidFill>
                  <a:srgbClr val="415046"/>
                </a:solidFill>
              </a:rPr>
              <a:t>Факторинг на базе ИИ · SPV для международных инвесторов · выход в ОАЭ</a:t>
            </a:r>
          </a:p>
          <a:p>
            <a:r>
              <a:rPr sz="1300">
                <a:solidFill>
                  <a:srgbClr val="14231B"/>
                </a:solidFill>
              </a:rPr>
              <a:t>Предложение от Consistente Ltd построить и эксплуатировать для Universalbank платформу факторинга нового поколения (white-label) — эффективнее действующего решения, с оплатой только за объём, с ИИ-ядром, SPV для международных инвесторов и выходом в ОАЭ.</a:t>
            </a:r>
          </a:p>
          <a:p>
            <a:r>
              <a:rPr sz="1100">
                <a:solidFill>
                  <a:srgbClr val="415046"/>
                </a:solidFill>
              </a:rPr>
              <a:t>Подготовлено Consistente Ltd · Таллин · info@consistente.tech · consistente.tech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КРАТКОЕ РЕЗЮМЕ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Три шага, одна платформа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1 · Лучшая платформа. Переосмыслить банковский факторинг в стиле OzPlanet с ИИ-ядром, кредитным скорингом в духе open banking и понятным трёхъязычным UX — с оплатой только за профинансированный объём, без SaaS-лицензии.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2 · Международный капитал. Добавить модуль SPV, чтобы глобальные — и прежде всего инвесторы Залива — могли финансировать узбекскую дебиторку, превращая внутренний продукт в трансграничный.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3 · Выход в ОАЭ. Учредить SPV в DIFC и поэтапную исламскую программу (Мурабаха → Вакала → Сукук) для доступа к исламскому капиталу Дубая / DIFC.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Рабочий ИИ-прототип готов уже сегодня — триаж заявок в чате и отчётность для инвесторов в чате уже работают в приложении.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ВОЗМОЖНОСТЬ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Узбекистан построил идеальную инфраструктуру для факторинга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SoliqOnline — платформа Государственного налогового комитета — с января 2020 года проверяет, фиксирует по времени и архивирует каждую B2B-электронную счёт-фактуру в стране.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Didox подключает к ней 350 000+ организаций и интегрируется с 1С — готовая база поставщиков, уже обменивающихся счетами в электронном виде.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Каждый счёт проверен государством и подтверждён покупателем в официальном реестре — мошенничество и подтверждение дебитора, самые сложные проблемы факторинга, решены у источника.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Адресный рынок — ~$2 млрд, проникновение — менее 2,5%: рано и быстро растёт.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ПОЧЕМУ СЕЙЧАС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Регуляторное окно открыто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Указ Президента № 106 (авг. 2024) обязал банки предоставлять факторинг.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ЗРУ-1058 (апр. 2025) внёс поправки в Гражданский кодекс, придав факторингу полную юридическую силу, и обязал автоматически регистрировать залоговый приоритет банка в реестре ЦБ РУз по API — примерно в течение часа после одобрения.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Новая лицензия не требуется: действующая лицензия ЦБ у Universalbank это покрывает; Factorio работает как white-label-технология под эгидой банка.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Ни один узбекский банк ещё не построил промышленный факторинговый стек на SoliqOnline с ИИ-ядром — первопроходец получает структурное преимущество.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ДЕЙСТВУЮЩИЙ ИГРОК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OzPlanet создал рынок — и оставил его уязвимым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828800"/>
          <a:ext cx="108356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1880"/>
                <a:gridCol w="3611880"/>
                <a:gridCol w="361188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Параметр</a:t>
                      </a:r>
                    </a:p>
                  </a:txBody>
                  <a:tcPr>
                    <a:solidFill>
                      <a:srgbClr val="1F5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OzPlanet (действующий)</a:t>
                      </a:r>
                    </a:p>
                  </a:txBody>
                  <a:tcPr>
                    <a:solidFill>
                      <a:srgbClr val="1F5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Factorio от Consistente</a:t>
                      </a:r>
                    </a:p>
                  </a:txBody>
                  <a:tcPr>
                    <a:solidFill>
                      <a:srgbClr val="1F5D4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Коммерческая модель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SaaS-лицензия / подписка для банка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White-label, оплата только за объём — когда банк финансирует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Кредитный скоринг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Ручная / внутренняя проверка банка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Автоматический скоринг в духе open banking (SoliqOnline + транзакции + CRIF)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ИИ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Триаж и отчётность в чате (Grok), интеллектуальная обработка документов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UX онбординга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Ведёт банк, много форм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Самообслуживание, трёхъязычный, за минуты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Международный капитал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Только местные банки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SPV в DIFC для глобальных инвесторов и инвесторов Залива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Время до индикативного решения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Дни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Секунды (индикативно) · часы (финально)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0350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415046"/>
                </a:solidFill>
              </a:rPr>
              <a:t>По имеющимся данным, через OzPlanet проходит ~52% факторинга на электронных платформах, он обслуживает ~50% банков — доказательство реального спроса и того, что более совершенный продукт заберёт долю.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НАПРАВЛЕНИЕ 1 · ЛУЧШАЯ ПЛАТФОРМА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ИИ в основе, а не сбоку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Тот же сквозной процесс факторинга — подача, проверка, финансирование, расчёт — но с ИИ в триаже, скоринге, документах и отчётности.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На лёгком серверном стеке (FastHTML + PostgreSQL) — быстро менять, дёшево эксплуатировать, легко брендировать под банк.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Трёхъязычность заложена в дизайн (английский · узбекский · русский); ИИ отвечает на языке пользователя.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Следующие три слайда раскрывают ИИ, движок кредитного скоринга и коммерческую модель.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НАПРАВЛЕНИЕ 1 · 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Две разговорные поверхности, одно ядро Grok</a:t>
            </a:r>
          </a:p>
        </p:txBody>
      </p:sp>
      <p:pic>
        <p:nvPicPr>
          <p:cNvPr id="5" name="Picture 4" descr="d2-ai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366474"/>
            <a:ext cx="6583680" cy="1405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55080"/>
            <a:ext cx="6583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1">
                <a:solidFill>
                  <a:srgbClr val="415046"/>
                </a:solidFill>
              </a:rPr>
              <a:t>Триаж заявок в чате и отчётность для инвесторов в чате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Триаж превращает описание продавца на естественном языке в индикативный рейтинг, ставку аванса и список документов — за секунды.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Отчётность отвечает на вопросы инвестора на основе его реальных позиций — без выдуманных цифр.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Grok оценивает и объясняет; финальное решение всегда за человеком. Каждое решение ИИ логируется и проверяемо.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НАПРАВЛЕНИЕ 1 · КРЕДИТНЫЙ СКОРИНГ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Скоринг в духе open banking, узбекская версия</a:t>
            </a:r>
          </a:p>
        </p:txBody>
      </p:sp>
      <p:pic>
        <p:nvPicPr>
          <p:cNvPr id="5" name="Picture 4" descr="d3-sc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92925"/>
            <a:ext cx="6583680" cy="17523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55080"/>
            <a:ext cx="6583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1">
                <a:solidFill>
                  <a:srgbClr val="415046"/>
                </a:solidFill>
              </a:rPr>
              <a:t>Слияние данных в стиле Plaid, адаптированное к инфраструктуре Узбекистана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Модель Plaid — это подключи счёт, прочитай денежные потоки, прими решение. В Узбекистане богатейший источник — SoliqOnline (проверенные счета и налоговый оборот) плюс банковские транзакции и бюро CRIF.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Модель выдаёт рейтинг, ставку аванса и цену; Grok формирует понятное обоснование и причины отказа.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Каждое решение версионируется и воспроизводимо — ключевая методология Consistente и то, что запросит регулятор.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НАПРАВЛЕНИЕ 1 · КОММЕРЧЕСКАЯ МОДЕЛЬ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Оплата только за объём — интересы совпадают с банком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828800"/>
          <a:ext cx="108356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7820"/>
                <a:gridCol w="54178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Месячный объём финансирования</a:t>
                      </a:r>
                    </a:p>
                  </a:txBody>
                  <a:tcPr>
                    <a:solidFill>
                      <a:srgbClr val="1F5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Комиссия платформы (б.п. от объёма)</a:t>
                      </a:r>
                    </a:p>
                  </a:txBody>
                  <a:tcPr>
                    <a:solidFill>
                      <a:srgbClr val="1F5D4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До 50 млрд сум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120 б.п.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50–200 млрд сум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90 б.п.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200–500 млрд сум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70 б.п.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Свыше 500 млрд сум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55 б.п.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0350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415046"/>
                </a:solidFill>
              </a:rPr>
              <a:t>Иллюстративно. Без SaaS-лицензии, без оплаты за место, без платы за внедрение — Consistente получает вознаграждение только когда банк финансирует счёт. Модуль международного SPV: ~60 б.п. в год от инвестированных активов + доля от результата сверх согласованного порога. Итоговые цифры — по согласованию с Universalbank.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НАПРАВЛЕНИЕ 2 · МЕЖДУНАРОДНЫЙ КАПИТАЛ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SPV, открывающее узбекскую дебиторку миру</a:t>
            </a:r>
          </a:p>
        </p:txBody>
      </p:sp>
      <p:pic>
        <p:nvPicPr>
          <p:cNvPr id="5" name="Picture 4" descr="d4-sp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3762" y="1828800"/>
            <a:ext cx="395343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55080"/>
            <a:ext cx="6583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1">
                <a:solidFill>
                  <a:srgbClr val="415046"/>
                </a:solidFill>
              </a:rPr>
              <a:t>Пул счетов → Factorio → SPV в DIFC → международные инвесторы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Universalbank остаётся оригинатором и сервисером; защищённое от банкротства SPV держит инвесторскую долю и направляет иностранный капитал в пул счетов.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Два трека на одной базе активов: конвенциональная нота/участие для институционалов и исламские структуры для капитала Залива.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Инвесторы получают ту же обоснованную ИИ-отчётность — на своём языке — плюс выписки и прозрачный аудиторский след.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НАПРАВЛЕНИЕ 3 · ВЫХОД В ОАЭ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Поэтапная исламская программа для капитала DIFC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828800"/>
          <a:ext cx="108356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128"/>
                <a:gridCol w="2167128"/>
                <a:gridCol w="2167128"/>
                <a:gridCol w="2167128"/>
                <a:gridCol w="2167128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5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Мурабаха (SCF)</a:t>
                      </a:r>
                    </a:p>
                  </a:txBody>
                  <a:tcPr>
                    <a:solidFill>
                      <a:srgbClr val="1F5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Фонд Вакала</a:t>
                      </a:r>
                    </a:p>
                  </a:txBody>
                  <a:tcPr>
                    <a:solidFill>
                      <a:srgbClr val="1F5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Сукук</a:t>
                      </a:r>
                    </a:p>
                  </a:txBody>
                  <a:tcPr>
                    <a:solidFill>
                      <a:srgbClr val="1F5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Мушарака</a:t>
                      </a:r>
                    </a:p>
                  </a:txBody>
                  <a:tcPr>
                    <a:solidFill>
                      <a:srgbClr val="1F5D4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Шариатская чистота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Высокая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Высокая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Высокая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Наивысшая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Сложность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Низкая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Низк.–ср.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Высокая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Средняя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Срок вывода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Самый быстрый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Быстро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Дольше всех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Средне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Привлекательность (Дубай)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Средняя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Высокая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Очень высокая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Высокая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Капитал на сделку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Мал.–ср.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Средний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Крупный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Ср.–крупн.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Регуляторика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Только фатва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Фатва + фонд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Фатва + DFSA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Фатва + фонд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Кому подходит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Пилот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Family office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Институционалы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Стратег. партнёры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0350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415046"/>
                </a:solidFill>
              </a:rPr>
              <a:t>Рекомендуемый путь: последовательно — пилот Мурабаха (M6–12) → фонд Вакала → Сукук. Каждый этап формирует историю, делающую следующий убедительным. Все требуют фатвы аккредитованного AAOIFI совета до запуска.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НАПРАВЛЕНИЕ 3 · ПОЧЕМУ ДУБАЙ / DIFC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Главное — спред доходности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Доходность узбекского факторинга ~20–30% годовых против исламского денежного рынка Залива ~4–6% — исключительный спред для такого риска благодаря структурной защите SoliqOnline.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Короткая дюрация (оборот 30–90 дней) редка и очень востребована у ликвидити-менеджеров Залива.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Узбекская дебиторка не коррелирует с недвижимостью Залива, региональными акциями или нефтью — настоящая диверсификация.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DIFC (DFSA) и ADGM (FSRA) имеют зрелые рамки исламских финансов и признают структуры SPV/Сукук; Федеральный декрет-закон № 50 от 2022 кодифицирует контракты.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АРХИТЕКТУРА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Один процесс, ИИ-нативный, готовый к интеграциям</a:t>
            </a:r>
          </a:p>
        </p:txBody>
      </p:sp>
      <p:pic>
        <p:nvPicPr>
          <p:cNvPr id="5" name="Picture 4" descr="d1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44483"/>
            <a:ext cx="6583680" cy="18491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55080"/>
            <a:ext cx="6583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1">
                <a:solidFill>
                  <a:srgbClr val="415046"/>
                </a:solidFill>
              </a:rPr>
              <a:t>Целевая архитектура системы с выделенными ИИ-компонентами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Единый процесс FastHTML обслуживает лендинг, приложение инвестора и ИИ-ассистентов; PostgreSQL хранит данные факторинга и ИИ.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Чистые точки интеграции с SoliqOnline/Didox, open banking, CRIF, реестром ЦБ и SPV/кастодианом в DIFC.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Grok (x.ai) подключается через OpenAI-совместимый интерфейс — id модели задаётся конфигурацией, что исключает привязку к вендору.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ДОКАЗАТЕЛЬСТВО · РАБОТАЕТ УЖЕ СЕГОДНЯ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ИИ — не слайд, он уже внедрён</a:t>
            </a:r>
          </a:p>
        </p:txBody>
      </p:sp>
      <p:pic>
        <p:nvPicPr>
          <p:cNvPr id="5" name="Picture 4" descr="ru-13-ai-tri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65836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55080"/>
            <a:ext cx="6583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1">
                <a:solidFill>
                  <a:srgbClr val="415046"/>
                </a:solidFill>
              </a:rPr>
              <a:t>Действующий триаж счёта в чате в приложении Factorio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Продавец описывает счёт одним предложением; ассистент возвращает индикативный рейтинг, ставку аванса и список документов.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На базе Grok (x.ai), трёхъязычно, с корректным запасным поведением и полным аудитом — тот же подход расширяется на скоринг и отчётность.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РЕАЛИЗАЦИЯ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От прототипа к региональной платформе</a:t>
            </a:r>
          </a:p>
        </p:txBody>
      </p:sp>
      <p:pic>
        <p:nvPicPr>
          <p:cNvPr id="5" name="Picture 4" descr="d5-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740590"/>
            <a:ext cx="6583680" cy="6569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55080"/>
            <a:ext cx="6583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1">
                <a:solidFill>
                  <a:srgbClr val="415046"/>
                </a:solidFill>
              </a:rPr>
              <a:t>Поэтапный запуск — каждый этап финансирует следующий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Этап 0 (сейчас): прототип ИИ-триажа и отчётности работает.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Этапы 1–2 (M1–6): релиз платформы, интеграция SoliqOnline, скоринг на open banking, оплата за объём.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Этапы 3–4 (M6+): SPV в DIFC и первый международный капитал, затем последовательность Вакала → Сукук и региональный масштаб.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ПОЧЕМУ CONSISTENTE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Промышленный ИИ, поставляемый стабильно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Consistente Ltd (Таллин, ЕС) создаёт промышленный ИИ для предприятий — с воспроизводимыми пайплайнами, версионируемыми моделями и прозрачными промптами, а не «чёрные ящики».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Опыт в финансовых услугах и регулируемых секторах: LSEG, DBRS Morningstar, ARM, Microsoft.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Ключевые компетенции прямо ложатся на проект: интеллектуальная обработка документов, прикладной прогноз/скоринг и агентные процессы с проверкой человеком.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Базируется в ЕС, приоритет аудируемости — верный профиль для банка, строящего ИИ под надзором регулятора.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СЛЕДУЮЩИЕ ШАГИ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Что предлагаем сделать первым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1. Согласовать объём white-label и коммерческие условия на основе объёма.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2. Запустить пилот на реальных данных SoliqOnline; вывести платформу в релиз с ИИ-триажем и движком скоринга.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3. Параллельно начать подготовку SPV в DIFC и фатвы, чтобы международный капитал последовал за операционным портфелем.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Контакт: Consistente Ltd · info@consistente.tech · consistente.tech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