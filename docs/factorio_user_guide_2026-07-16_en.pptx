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103120"/>
            <a:ext cx="10515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400" b="1">
                <a:solidFill>
                  <a:srgbClr val="1F5D43"/>
                </a:solidFill>
              </a:rPr>
              <a:t>Factorio — User Guide</a:t>
            </a:r>
          </a:p>
          <a:p>
            <a:r>
              <a:rPr sz="2400">
                <a:solidFill>
                  <a:srgbClr val="415046"/>
                </a:solidFill>
              </a:rPr>
              <a:t>Invoice financing, end to end</a:t>
            </a:r>
          </a:p>
          <a:p>
            <a:r>
              <a:rPr sz="1300">
                <a:solidFill>
                  <a:srgbClr val="415046"/>
                </a:solidFill>
              </a:rPr>
              <a:t>Generated 2026-07-16 · Live at factorio.co.uk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C8A24B"/>
                </a:solidFill>
              </a:rPr>
              <a:t>OVERVIEW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731520"/>
            <a:ext cx="10881360" cy="777240"/>
          </a:xfrm>
          <a:prstGeom prst="rect">
            <a:avLst/>
          </a:prstGeom>
          <a:solidFill>
            <a:srgbClr val="1F5D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200" b="1">
                <a:solidFill>
                  <a:srgbClr val="FFFFFF"/>
                </a:solidFill>
              </a:rPr>
              <a:t>   What Factorio 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51206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14231B"/>
                </a:solidFill>
              </a:rPr>
              <a:t>•  An invoice-financing marketplace connecting two sides: sellers who need cash now and investors seeking short-term, asset-backed returns.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14231B"/>
                </a:solidFill>
              </a:rPr>
              <a:t>•  One site serves both — a marketing front and an HTMX-driven product app.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14231B"/>
                </a:solidFill>
              </a:rPr>
              <a:t>•  The hero summarizes the model: advance rate, days-to-funding, sectors served and total funded volume (UZS).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14231B"/>
                </a:solidFill>
              </a:rPr>
              <a:t>•  Fully trilingual — English, Oʻzbekcha and Russian — switched from the top navigation.</a:t>
            </a:r>
          </a:p>
        </p:txBody>
      </p:sp>
      <p:pic>
        <p:nvPicPr>
          <p:cNvPr id="6" name="Picture 5" descr="en-01-land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1828800"/>
            <a:ext cx="5760720" cy="360045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C8A24B"/>
                </a:solidFill>
              </a:rPr>
              <a:t>FOR SELLERS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731520"/>
            <a:ext cx="10881360" cy="777240"/>
          </a:xfrm>
          <a:prstGeom prst="rect">
            <a:avLst/>
          </a:prstGeom>
          <a:solidFill>
            <a:srgbClr val="1F5D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200" b="1">
                <a:solidFill>
                  <a:srgbClr val="FFFFFF"/>
                </a:solidFill>
              </a:rPr>
              <a:t>   Turn invoices into working capital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51206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14231B"/>
                </a:solidFill>
              </a:rPr>
              <a:t>•  Get a large share of an invoice advanced in days instead of waiting 30–120 days for the debtor to pay.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14231B"/>
                </a:solidFill>
              </a:rPr>
              <a:t>•  The seller journey: submit an invoice → get it verified and risk-graded → receive the advance → settle when the debtor pays.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14231B"/>
                </a:solidFill>
              </a:rPr>
              <a:t>•  Factoring, not a loan — no new debt on the balance sheet; funding scales with sales.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14231B"/>
                </a:solidFill>
              </a:rPr>
              <a:t>•  Built for manufacturing, wholesale, construction, logistics and services.</a:t>
            </a:r>
          </a:p>
        </p:txBody>
      </p:sp>
      <p:pic>
        <p:nvPicPr>
          <p:cNvPr id="6" name="Picture 5" descr="en-02-for-sell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1828800"/>
            <a:ext cx="5760720" cy="360045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C8A24B"/>
                </a:solidFill>
              </a:rPr>
              <a:t>FOR INVESTORS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731520"/>
            <a:ext cx="10881360" cy="777240"/>
          </a:xfrm>
          <a:prstGeom prst="rect">
            <a:avLst/>
          </a:prstGeom>
          <a:solidFill>
            <a:srgbClr val="1F5D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200" b="1">
                <a:solidFill>
                  <a:srgbClr val="FFFFFF"/>
                </a:solidFill>
              </a:rPr>
              <a:t>   Short-term, asset-backed returns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51206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14231B"/>
                </a:solidFill>
              </a:rPr>
              <a:t>•  Fund verified invoices and earn a fee/return over a short hold — often just weeks.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14231B"/>
                </a:solidFill>
              </a:rPr>
              <a:t>•  Diversify across debtors, sectors and risk grades (A–D).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14231B"/>
                </a:solidFill>
              </a:rPr>
              <a:t>•  Returns are tied to real receivables, not market speculation.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14231B"/>
                </a:solidFill>
              </a:rPr>
              <a:t>•  Leads into the investor app — dashboard, marketplace and portfolio.</a:t>
            </a:r>
          </a:p>
        </p:txBody>
      </p:sp>
      <p:pic>
        <p:nvPicPr>
          <p:cNvPr id="6" name="Picture 5" descr="en-03-for-investo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1828800"/>
            <a:ext cx="5760720" cy="360045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C8A24B"/>
                </a:solidFill>
              </a:rPr>
              <a:t>HOW IT WORKS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731520"/>
            <a:ext cx="10881360" cy="777240"/>
          </a:xfrm>
          <a:prstGeom prst="rect">
            <a:avLst/>
          </a:prstGeom>
          <a:solidFill>
            <a:srgbClr val="1F5D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200" b="1">
                <a:solidFill>
                  <a:srgbClr val="FFFFFF"/>
                </a:solidFill>
              </a:rPr>
              <a:t>   Four steps, end to end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51206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14231B"/>
                </a:solidFill>
              </a:rPr>
              <a:t>•  Submit — a seller uploads an invoice and company details.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14231B"/>
                </a:solidFill>
              </a:rPr>
              <a:t>•  Verify — Factorio checks the debtor and assigns a risk grade and pricing.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14231B"/>
                </a:solidFill>
              </a:rPr>
              <a:t>•  Fund — the invoice appears on the marketplace; investors fund it to its goal.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14231B"/>
                </a:solidFill>
              </a:rPr>
              <a:t>•  Settle — when the debtor pays, principal + interest are distributed and the position closes.</a:t>
            </a:r>
          </a:p>
        </p:txBody>
      </p:sp>
      <p:pic>
        <p:nvPicPr>
          <p:cNvPr id="6" name="Picture 5" descr="en-04-how-it-work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1828800"/>
            <a:ext cx="5760720" cy="360045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C8A24B"/>
                </a:solidFill>
              </a:rPr>
              <a:t>HOW THE MONEY MOVES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731520"/>
            <a:ext cx="10881360" cy="777240"/>
          </a:xfrm>
          <a:prstGeom prst="rect">
            <a:avLst/>
          </a:prstGeom>
          <a:solidFill>
            <a:srgbClr val="1F5D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200" b="1">
                <a:solidFill>
                  <a:srgbClr val="FFFFFF"/>
                </a:solidFill>
              </a:rPr>
              <a:t>   Where every party's money comes from</a:t>
            </a:r>
          </a:p>
        </p:txBody>
      </p:sp>
      <p:pic>
        <p:nvPicPr>
          <p:cNvPr id="5" name="Picture 4" descr="en-15-money-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7048" y="1737360"/>
            <a:ext cx="9144000" cy="215569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" y="4663440"/>
            <a:ext cx="108813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>
                <a:solidFill>
                  <a:srgbClr val="14231B"/>
                </a:solidFill>
              </a:rPr>
              <a:t>•  The seller delivers goods and issues a SoliqOnline e-invoice; the payer (debtor) owes the invoice amount.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14231B"/>
                </a:solidFill>
              </a:rPr>
              <a:t>•  The platform advances ~85% to the seller now, funded by the capital source — the bank's balance sheet, investors, or the DIFC SPV.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14231B"/>
                </a:solidFill>
              </a:rPr>
              <a:t>•  At maturity the payer pays 100% into the collection account; the seller receives the net balance, the capital source gets principal + return, and the platform keeps a volume-based fee.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14231B"/>
                </a:solidFill>
              </a:rPr>
              <a:t>•  The flow is identical whoever funds it — which is what makes the investor / SPV layer pluggable.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C8A24B"/>
                </a:solidFill>
              </a:rPr>
              <a:t>JOURNEY · BORROWER (ORIGINATION)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731520"/>
            <a:ext cx="10881360" cy="777240"/>
          </a:xfrm>
          <a:prstGeom prst="rect">
            <a:avLst/>
          </a:prstGeom>
          <a:solidFill>
            <a:srgbClr val="1F5D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200" b="1">
                <a:solidFill>
                  <a:srgbClr val="FFFFFF"/>
                </a:solidFill>
              </a:rPr>
              <a:t>   The seller's journey, end to end</a:t>
            </a:r>
          </a:p>
        </p:txBody>
      </p:sp>
      <p:pic>
        <p:nvPicPr>
          <p:cNvPr id="5" name="Picture 4" descr="en-16-origination-journe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7048" y="1737360"/>
            <a:ext cx="9144000" cy="53721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" y="4663440"/>
            <a:ext cx="108813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>
                <a:solidFill>
                  <a:srgbClr val="14231B"/>
                </a:solidFill>
              </a:rPr>
              <a:t>•  Sign up (bank KYC) → invoice auto-imported from SoliqOnline → request financing in an AI-triage chat.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14231B"/>
                </a:solidFill>
              </a:rPr>
              <a:t>•  Debtor scoring returns indicative terms; the bank approves in one click; collateral is registered with the CBU in under an hour.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14231B"/>
                </a:solidFill>
              </a:rPr>
              <a:t>•  The advance lands in the seller's account in 24–48 hours — no branch visit, no paper.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C8A24B"/>
                </a:solidFill>
              </a:rPr>
              <a:t>JOURNEY · INVESTOR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731520"/>
            <a:ext cx="10881360" cy="777240"/>
          </a:xfrm>
          <a:prstGeom prst="rect">
            <a:avLst/>
          </a:prstGeom>
          <a:solidFill>
            <a:srgbClr val="1F5D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200" b="1">
                <a:solidFill>
                  <a:srgbClr val="FFFFFF"/>
                </a:solidFill>
              </a:rPr>
              <a:t>   The investor's journey, end to end</a:t>
            </a:r>
          </a:p>
        </p:txBody>
      </p:sp>
      <p:pic>
        <p:nvPicPr>
          <p:cNvPr id="5" name="Picture 4" descr="en-17-investor-journe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7048" y="1737360"/>
            <a:ext cx="9144000" cy="61703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" y="4663440"/>
            <a:ext cx="108813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>
                <a:solidFill>
                  <a:srgbClr val="14231B"/>
                </a:solidFill>
              </a:rPr>
              <a:t>•  Onboard (KYC / accreditation) → commit capital via the marketplace or the SPV → auto-invest or pick invoices.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14231B"/>
                </a:solidFill>
              </a:rPr>
              <a:t>•  Hold the position with AI portfolio reporting on demand; when the debtor pays at maturity, principal + return are distributed.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14231B"/>
                </a:solidFill>
              </a:rPr>
              <a:t>•  Decomposable: the origination piece (bank-funded) can launch first; the investor marketplace and SPV plug in later, independently.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C8A24B"/>
                </a:solidFill>
              </a:rPr>
              <a:t>PRICING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731520"/>
            <a:ext cx="10881360" cy="777240"/>
          </a:xfrm>
          <a:prstGeom prst="rect">
            <a:avLst/>
          </a:prstGeom>
          <a:solidFill>
            <a:srgbClr val="1F5D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200" b="1">
                <a:solidFill>
                  <a:srgbClr val="FFFFFF"/>
                </a:solidFill>
              </a:rPr>
              <a:t>   Transparent, per-invoice fees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51206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14231B"/>
                </a:solidFill>
              </a:rPr>
              <a:t>•  Pricing is per invoice — a fee per 30 days against the advanced amount, with no hidden charges.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14231B"/>
                </a:solidFill>
              </a:rPr>
              <a:t>•  Shows the headline advance rate and worked example economics.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14231B"/>
                </a:solidFill>
              </a:rPr>
              <a:t>•  No subscription and no commitment to submit an invoice.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14231B"/>
                </a:solidFill>
              </a:rPr>
              <a:t>•  A clear breakdown so both sides understand the return and the cost.</a:t>
            </a:r>
          </a:p>
        </p:txBody>
      </p:sp>
      <p:pic>
        <p:nvPicPr>
          <p:cNvPr id="6" name="Picture 5" descr="en-05-pric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1828800"/>
            <a:ext cx="5760720" cy="360045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C8A24B"/>
                </a:solidFill>
              </a:rPr>
              <a:t>CONTACT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731520"/>
            <a:ext cx="10881360" cy="777240"/>
          </a:xfrm>
          <a:prstGeom prst="rect">
            <a:avLst/>
          </a:prstGeom>
          <a:solidFill>
            <a:srgbClr val="1F5D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200" b="1">
                <a:solidFill>
                  <a:srgbClr val="FFFFFF"/>
                </a:solidFill>
              </a:rPr>
              <a:t>   Get in touch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51206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14231B"/>
                </a:solidFill>
              </a:rPr>
              <a:t>•  A contact page for sellers and investors to reach the Factorio team.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14231B"/>
                </a:solidFill>
              </a:rPr>
              <a:t>•  Shows the contact email and a simple enquiry form.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14231B"/>
                </a:solidFill>
              </a:rPr>
              <a:t>•  The entry point to start onboarding.</a:t>
            </a:r>
          </a:p>
        </p:txBody>
      </p:sp>
      <p:pic>
        <p:nvPicPr>
          <p:cNvPr id="6" name="Picture 5" descr="en-06-contac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1828800"/>
            <a:ext cx="5760720" cy="360045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C8A24B"/>
                </a:solidFill>
              </a:rPr>
              <a:t>INVESTOR APP · DASHBOARD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731520"/>
            <a:ext cx="10881360" cy="777240"/>
          </a:xfrm>
          <a:prstGeom prst="rect">
            <a:avLst/>
          </a:prstGeom>
          <a:solidFill>
            <a:srgbClr val="1F5D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200" b="1">
                <a:solidFill>
                  <a:srgbClr val="FFFFFF"/>
                </a:solidFill>
              </a:rPr>
              <a:t>   Your personalized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51206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14231B"/>
                </a:solidFill>
              </a:rPr>
              <a:t>•  The /app home greets the current investor and leads with their own KPIs: portfolio value, net annual return, earned-to-date and the next settlement.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14231B"/>
                </a:solidFill>
              </a:rPr>
              <a:t>•  A recent-activity feed surfaces notifications — fundings, settlements and updates.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14231B"/>
                </a:solidFill>
              </a:rPr>
              <a:t>•  Quick actions jump to the marketplace, portfolio and statement.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14231B"/>
                </a:solidFill>
              </a:rPr>
              <a:t>•  Platform-wide stats are kept as a secondary strip.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14231B"/>
                </a:solidFill>
              </a:rPr>
              <a:t>•  Top-right investor switcher lets you view the app as any investor (demo, no password).</a:t>
            </a:r>
          </a:p>
        </p:txBody>
      </p:sp>
      <p:pic>
        <p:nvPicPr>
          <p:cNvPr id="6" name="Picture 5" descr="en-07-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1828800"/>
            <a:ext cx="5760720" cy="360045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C8A24B"/>
                </a:solidFill>
              </a:rPr>
              <a:t>INVESTOR APP · MARKETPLACE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731520"/>
            <a:ext cx="10881360" cy="777240"/>
          </a:xfrm>
          <a:prstGeom prst="rect">
            <a:avLst/>
          </a:prstGeom>
          <a:solidFill>
            <a:srgbClr val="1F5D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200" b="1">
                <a:solidFill>
                  <a:srgbClr val="FFFFFF"/>
                </a:solidFill>
              </a:rPr>
              <a:t>   Browse fundable invoices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51206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14231B"/>
                </a:solidFill>
              </a:rPr>
              <a:t>•  Every open, fundable invoice is a card: debtor, sector, risk grade, amount and a live funding-progress bar.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14231B"/>
                </a:solidFill>
              </a:rPr>
              <a:t>•  Each card shows the key economics — advance rate, fee per 30 days and estimated return — plus the target hold in days.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14231B"/>
                </a:solidFill>
              </a:rPr>
              <a:t>•  The filter bar narrows by sector, risk grade, maximum term and minimum return.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14231B"/>
                </a:solidFill>
              </a:rPr>
              <a:t>•  Click a card to open the full invoice detail.</a:t>
            </a:r>
          </a:p>
        </p:txBody>
      </p:sp>
      <p:pic>
        <p:nvPicPr>
          <p:cNvPr id="6" name="Picture 5" descr="en-08-marketpla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1828800"/>
            <a:ext cx="5760720" cy="360045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C8A24B"/>
                </a:solidFill>
              </a:rPr>
              <a:t>INVESTOR APP · INVOICE DETAIL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731520"/>
            <a:ext cx="10881360" cy="777240"/>
          </a:xfrm>
          <a:prstGeom prst="rect">
            <a:avLst/>
          </a:prstGeom>
          <a:solidFill>
            <a:srgbClr val="1F5D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200" b="1">
                <a:solidFill>
                  <a:srgbClr val="FFFFFF"/>
                </a:solidFill>
              </a:rPr>
              <a:t>   Full transparency before you invest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51206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14231B"/>
                </a:solidFill>
              </a:rPr>
              <a:t>•  The headline shows the debtor, risk grade, sector and invoice number.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14231B"/>
                </a:solidFill>
              </a:rPr>
              <a:t>•  A funding panel: amount raised vs goal, advance rate, fee and estimated return.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14231B"/>
                </a:solidFill>
              </a:rPr>
              <a:t>•  A debtor-company profile lists registration number, sector, country and annual turnover.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14231B"/>
                </a:solidFill>
              </a:rPr>
              <a:t>•  Everything needed to make a funding decision on a single screen.</a:t>
            </a:r>
          </a:p>
        </p:txBody>
      </p:sp>
      <p:pic>
        <p:nvPicPr>
          <p:cNvPr id="6" name="Picture 5" descr="en-09-marketplace-detai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1828800"/>
            <a:ext cx="5760720" cy="360045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C8A24B"/>
                </a:solidFill>
              </a:rPr>
              <a:t>INVESTOR APP · PORTFOLIO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731520"/>
            <a:ext cx="10881360" cy="777240"/>
          </a:xfrm>
          <a:prstGeom prst="rect">
            <a:avLst/>
          </a:prstGeom>
          <a:solidFill>
            <a:srgbClr val="1F5D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200" b="1">
                <a:solidFill>
                  <a:srgbClr val="FFFFFF"/>
                </a:solidFill>
              </a:rPr>
              <a:t>   The reporting cockpit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51206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14231B"/>
                </a:solidFill>
              </a:rPr>
              <a:t>•  Two hero panels: net annual return (interest received, write-offs, net income) and account value (active invested, expected outstanding, realized).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14231B"/>
                </a:solidFill>
              </a:rPr>
              <a:t>•  An investments aging table buckets active positions by days to / past due.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14231B"/>
                </a:solidFill>
              </a:rPr>
              <a:t>•  A payment-habits table shows how settled invoices actually paid — early, on time, late or written off.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14231B"/>
                </a:solidFill>
              </a:rPr>
              <a:t>•  A positions table lists every investment with realized return, settlement date, grade and status.</a:t>
            </a:r>
          </a:p>
        </p:txBody>
      </p:sp>
      <p:pic>
        <p:nvPicPr>
          <p:cNvPr id="6" name="Picture 5" descr="en-10-portfoli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1828800"/>
            <a:ext cx="5760720" cy="360045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C8A24B"/>
                </a:solidFill>
              </a:rPr>
              <a:t>INVESTOR APP · ACCOUNT STATEMENT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731520"/>
            <a:ext cx="10881360" cy="777240"/>
          </a:xfrm>
          <a:prstGeom prst="rect">
            <a:avLst/>
          </a:prstGeom>
          <a:solidFill>
            <a:srgbClr val="1F5D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200" b="1">
                <a:solidFill>
                  <a:srgbClr val="FFFFFF"/>
                </a:solidFill>
              </a:rPr>
              <a:t>   Every transaction, filterable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51206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14231B"/>
                </a:solidFill>
              </a:rPr>
              <a:t>•  A unified ledger of cash movements: investments out (−) and settlements in (+).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14231B"/>
                </a:solidFill>
              </a:rPr>
              <a:t>•  Filter by date range, type, counterparty, invoice number and minimum amount.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14231B"/>
                </a:solidFill>
              </a:rPr>
              <a:t>•  Signed amounts in UZS, newest first.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14231B"/>
                </a:solidFill>
              </a:rPr>
              <a:t>•  One-click CSV export for bookkeeping and reconciliation.</a:t>
            </a:r>
          </a:p>
        </p:txBody>
      </p:sp>
      <p:pic>
        <p:nvPicPr>
          <p:cNvPr id="6" name="Picture 5" descr="en-11-statem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1828800"/>
            <a:ext cx="5760720" cy="360045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C8A24B"/>
                </a:solidFill>
              </a:rPr>
              <a:t>INVESTOR APP · AUTO-INVEST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731520"/>
            <a:ext cx="10881360" cy="777240"/>
          </a:xfrm>
          <a:prstGeom prst="rect">
            <a:avLst/>
          </a:prstGeom>
          <a:solidFill>
            <a:srgbClr val="1F5D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200" b="1">
                <a:solidFill>
                  <a:srgbClr val="FFFFFF"/>
                </a:solidFill>
              </a:rPr>
              <a:t>   Set rules, invest automatically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51206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14231B"/>
                </a:solidFill>
              </a:rPr>
              <a:t>•  Configure automated bidding: minimum risk grade, maximum amount per invoice and preferred sectors.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14231B"/>
                </a:solidFill>
              </a:rPr>
              <a:t>•  Toggle the strategy active/inactive; the status is shown at the top.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14231B"/>
                </a:solidFill>
              </a:rPr>
              <a:t>•  Rules are saved per investor and applied to matching new invoices.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14231B"/>
                </a:solidFill>
              </a:rPr>
              <a:t>•  Modelled on investly.co's autobidder.</a:t>
            </a:r>
          </a:p>
        </p:txBody>
      </p:sp>
      <p:pic>
        <p:nvPicPr>
          <p:cNvPr id="6" name="Picture 5" descr="en-12-auto-inve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1828800"/>
            <a:ext cx="5760720" cy="360045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C8A24B"/>
                </a:solidFill>
              </a:rPr>
              <a:t>AI · APPLICATION TRIAGE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731520"/>
            <a:ext cx="10881360" cy="777240"/>
          </a:xfrm>
          <a:prstGeom prst="rect">
            <a:avLst/>
          </a:prstGeom>
          <a:solidFill>
            <a:srgbClr val="1F5D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200" b="1">
                <a:solidFill>
                  <a:srgbClr val="FFFFFF"/>
                </a:solidFill>
              </a:rPr>
              <a:t>   Chat-based invoice triage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51206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14231B"/>
                </a:solidFill>
              </a:rPr>
              <a:t>•  Sellers describe an invoice and debtor in plain language; the assistant collects only what is still missing.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14231B"/>
                </a:solidFill>
              </a:rPr>
              <a:t>•  It returns an indicative risk band (A–D), an advance rate and the documents the bank needs next — in seconds, not days.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14231B"/>
                </a:solidFill>
              </a:rPr>
              <a:t>•  Powered by Grok (x.ai); everything is indicative and subject to verification — no final decision is automated.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14231B"/>
                </a:solidFill>
              </a:rPr>
              <a:t>•  Fully trilingual — the assistant replies in the visitor's language (English, Oʻzbekcha, Russian).</a:t>
            </a:r>
          </a:p>
        </p:txBody>
      </p:sp>
      <p:pic>
        <p:nvPicPr>
          <p:cNvPr id="6" name="Picture 5" descr="en-13-ai-tri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1828800"/>
            <a:ext cx="5760720" cy="360045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C8A24B"/>
                </a:solidFill>
              </a:rPr>
              <a:t>AI · PORTFOLIO REPORTING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731520"/>
            <a:ext cx="10881360" cy="777240"/>
          </a:xfrm>
          <a:prstGeom prst="rect">
            <a:avLst/>
          </a:prstGeom>
          <a:solidFill>
            <a:srgbClr val="1F5D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200" b="1">
                <a:solidFill>
                  <a:srgbClr val="FFFFFF"/>
                </a:solidFill>
              </a:rPr>
              <a:t>   Ask your portfolio anything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51206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14231B"/>
                </a:solidFill>
              </a:rPr>
              <a:t>•  Investors ask questions in natural language — net return, exposure by sector or debtor, overdue positions, upcoming settlements.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14231B"/>
                </a:solidFill>
              </a:rPr>
              <a:t>•  Answers are grounded in the investor's own live positions — every figure traces back to real portfolio data, not invented.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14231B"/>
                </a:solidFill>
              </a:rPr>
              <a:t>•  Concrete and specific: it quotes actual amounts and invoice numbers, and says so plainly when the data can't answer.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14231B"/>
                </a:solidFill>
              </a:rPr>
              <a:t>•  The conversational layer on top of the portfolio cockpit — reporting on demand, in the investor's language.</a:t>
            </a:r>
          </a:p>
        </p:txBody>
      </p:sp>
      <p:pic>
        <p:nvPicPr>
          <p:cNvPr id="6" name="Picture 5" descr="en-14-ai-assista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1828800"/>
            <a:ext cx="5760720" cy="360045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C8A24B"/>
                </a:solidFill>
              </a:rPr>
              <a:t>GET STARTED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731520"/>
            <a:ext cx="10881360" cy="777240"/>
          </a:xfrm>
          <a:prstGeom prst="rect">
            <a:avLst/>
          </a:prstGeom>
          <a:solidFill>
            <a:srgbClr val="1F5D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200" b="1">
                <a:solidFill>
                  <a:srgbClr val="FFFFFF"/>
                </a:solidFill>
              </a:rPr>
              <a:t>   Start with Factorio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108813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14231B"/>
                </a:solidFill>
              </a:rPr>
              <a:t>•  Sellers — submit an invoice and get an offer in 1–3 working days.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14231B"/>
                </a:solidFill>
              </a:rPr>
              <a:t>•  Investors — browse the marketplace, build a portfolio, automate with auto-invest.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14231B"/>
                </a:solidFill>
              </a:rPr>
              <a:t>•  Live at factorio.co.uk · hello@factorio.co.uk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