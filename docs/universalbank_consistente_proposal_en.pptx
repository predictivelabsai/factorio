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for Universalbank</a:t>
            </a:r>
          </a:p>
          <a:p>
            <a:r>
              <a:rPr sz="2000">
                <a:solidFill>
                  <a:srgbClr val="415046"/>
                </a:solidFill>
              </a:rPr>
              <a:t>AI-native invoice financing · an international-investor SPV · UAE entry</a:t>
            </a:r>
          </a:p>
          <a:p>
            <a:r>
              <a:rPr sz="1300">
                <a:solidFill>
                  <a:srgbClr val="14231B"/>
                </a:solidFill>
              </a:rPr>
              <a:t>A proposal by Consistente Ltd to build and operate a next-generation, white-label invoice-financing platform for Universalbank — more efficient than the incumbent, priced on volume alone, with an AI core, an international-investor SPV, and a route into the UAE.</a:t>
            </a:r>
          </a:p>
          <a:p>
            <a:r>
              <a:rPr sz="1100">
                <a:solidFill>
                  <a:srgbClr val="415046"/>
                </a:solidFill>
              </a:rPr>
              <a:t>Prepared by Consistente Ltd · Tallinn · info@consistente.tech · consistente.tech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Three moves, one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1 · A better platform. Rebuild the OzPlanet-style bank factoring experience with an AI core, open-banking-style credit scoring, and a cleaner trilingual UX — priced on financed volume only, with no SaaS licence.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2 · International capital. Add an SPV module so global — and specifically Gulf — investors can fund Uzbek receivables, turning a domestic product into a cross-border one.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3 · UAE entry. Stand up a DIFC SPV and a phased Shariah programme (Murabaha → Wakala → Sukuk) to reach Dubai / DIFC Islamic capital.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A working AI prototype ships today — chat-based loan triage and chat-based investor reporting are already live in the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THE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Uzbekistan built the perfect rails for invoice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SoliqOnline — the State Tax Committee's platform — has validated, timestamped and archived every B2B e-invoice in the country since January 2020.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Didox connects 350,000+ organisations to it and integrates with 1C — a ready-made supplier base that already exchanges invoices electronically.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Every invoice is government-verified and buyer-confirmed on official record — fraud and debtor-confirmation, factoring's hardest problems, are solved at source.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The market is ~$2bn addressable and under 2.5% penetrated — early, and growing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The regulatory window is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Presidential Decree No. 106 (Aug 2024) mandated banks to offer factoring.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ZRU-1058 (Apr 2025) amended the Civil Code to give factoring full legal force, and mandates automated API registration of the bank's collateral priority in the CBU registry — within about an hour of approval.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No new licence is required: Universalbank's existing CBU licence covers this; Factorio operates as white-label technology under the bank's umbrella.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No Uzbek bank has yet built a production-grade SoliqOnline factoring stack with an AI core — the first mover captures structural advantage.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THE INCUMBENT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OzPlanet set the market — and left it beatable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35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OzPlanet (incumbent)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Factorio by Consistente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Commercial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Bank SaaS licence /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White-label, volume-only pricing — paid when the bank finances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Credit scoring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Bank's own manual / internal review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Open-banking-style automated score (SoliqOnline + bank txn + CRIF)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Chat triage + chat reporting (Grok), document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Onboarding UX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Bank-led, form-heavy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Self-serve, trilingual, minutes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International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Domestic banks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DIFC SPV for global / Gulf investors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Time to indicative decision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Seconds (indicative) · hours (final)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35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15046"/>
                </a:solidFill>
              </a:rPr>
              <a:t>OzPlanet reportedly carries ~52% of factoring routed through e-platforms and serves ~50% of banks — proof the demand is real, and that a sharper product wins share.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PILLAR 1 · A BETTER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AI at the core, not bolted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The same end-to-end factoring workflow — submit, verify, fund, settle — but with AI woven through triage, scoring, documents and reporting.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Built on a lean, server-rendered stack (FastHTML + PostgreSQL) — fast to change, cheap to run, easy to white-label under the bank's brand.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Trilingual by design (English · Oʻzbekcha · Russian); the AI answers in the user's language.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The next three slides detail the AI, the credit-scoring engine, and the commercial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PILLAR 1 ·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Two conversational surfaces, one Grok core</a:t>
            </a:r>
          </a:p>
        </p:txBody>
      </p:sp>
      <p:pic>
        <p:nvPicPr>
          <p:cNvPr id="5" name="Picture 4" descr="d2-ai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66474"/>
            <a:ext cx="6583680" cy="1405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Chat-based loan triage and chat-based investor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Triage turns a seller's plain-language description into an indicative grade, advance rate and document list — in seconds.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Reporting answers an investor's questions grounded in their own live positions — no invented figures.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Grok scores and explains; a human always approves. Every AI decision is logged and auditable.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PILLAR 1 · CREDIT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Open-banking-style scoring, Uzbek edition</a:t>
            </a:r>
          </a:p>
        </p:txBody>
      </p:sp>
      <p:pic>
        <p:nvPicPr>
          <p:cNvPr id="5" name="Picture 4" descr="d3-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92925"/>
            <a:ext cx="6583680" cy="1752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Plaid-style data fusion adapted to Uzbekistan's 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The Plaid model is connect an account, read the cash flows, decide. In Uzbekistan the richest feed is SoliqOnline — verified invoices and tax-declared turnover — plus bank transaction data and the CRIF bureau.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A model produces the grade, advance rate and price; Grok writes the plain-language rationale and adverse-action reasons.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Every decision is versioned and reproducible — Consistente's core methodology, and what a regulator will ask for.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PILLAR 1 · COMMERCIAL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Volume-only pricing — aligned with the bank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35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Monthly financed volume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Platform fee (bps of financed volume)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Up to UZS 50 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120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UZS 50–200 bn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90 bps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UZS 200–500 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70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Over UZS 500 bn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55 bps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35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15046"/>
                </a:solidFill>
              </a:rPr>
              <a:t>Illustrative. No SaaS licence, no per-seat, no setup fee — Consistente is paid only when the bank finances an invoice. International SPV module: ~60 bps p.a. on invested AUM + a performance share above an agreed hurdle. Final figures to be set with Universalbank.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PILLAR 2 · INTERNATIONAL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An SPV that opens Uzbek receivables to the world</a:t>
            </a:r>
          </a:p>
        </p:txBody>
      </p:sp>
      <p:pic>
        <p:nvPicPr>
          <p:cNvPr id="5" name="Picture 4" descr="d4-s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62" y="1828800"/>
            <a:ext cx="395343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Invoice pool → Factorio → DIFC SPV → international investors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Universalbank remains originator and servicer; a bankruptcy-remote SPV holds the investor-facing interest and channels foreign capital into the invoice pool.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Two tracks off the same asset base: a conventional note/participation for institutional investors, and Shariah structures for Gulf capital.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Investors get the same grounded, AI-assisted reporting — in their language — plus statements and a clean audit trail.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PILLAR 3 · UAE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A phased Shariah programme for DIFC capital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35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/>
                <a:gridCol w="2167128"/>
                <a:gridCol w="2167128"/>
                <a:gridCol w="2167128"/>
                <a:gridCol w="2167128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Murabaha SCF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Wakala Fund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Sukuk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Musharaka</a:t>
                      </a:r>
                    </a:p>
                  </a:txBody>
                  <a:tcPr>
                    <a:solidFill>
                      <a:srgbClr val="1F5D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Shariah purity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Low–Med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Time to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Fastest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Slowest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Dubai investor appeal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Capital per deal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Small–Med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Med–Large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Regulatory need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Fatwa only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Fatwa + fund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Fatwa + DFSA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Fatwa + fund</a:t>
                      </a:r>
                    </a:p>
                  </a:txBody>
                  <a:tcPr>
                    <a:solidFill>
                      <a:srgbClr val="EEED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Family offices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Institutional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B"/>
                          </a:solidFill>
                        </a:rPr>
                        <a:t>Strategic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35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15046"/>
                </a:solidFill>
              </a:rPr>
              <a:t>Recommended path: run them in sequence — Murabaha SCF pilot (M6–12) → Wakala fund → Sukuk. Each phase builds the track record that makes the next credible. All require an AAOIFI-accredited fatwa before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PILLAR 3 · WHY DUBAI / DIFC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The yield spread is 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Uzbek factoring yields of ~20–30% p.a. against Gulf Islamic money-market returns of ~4–6% — an exceptional spread for the risk, given SoliqOnline's structural protections.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Short duration (30–90-day rolling receivables) is rare and highly demanded by Gulf liquidity managers.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Uzbek receivables are uncorrelated with Gulf real estate, regional equities or oil — genuine diversification.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DIFC (DFSA) and ADGM (FSRA) both have mature Islamic-finance frameworks and recognise SPV/Sukuk structures; the UAE's Federal Decree-Law No. 50 of 2022 codifies the contracts.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One process, AI-native, integration-ready</a:t>
            </a:r>
          </a:p>
        </p:txBody>
      </p:sp>
      <p:pic>
        <p:nvPicPr>
          <p:cNvPr id="5" name="Picture 4" descr="d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44483"/>
            <a:ext cx="6583680" cy="18491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Target system architecture with AI components highlighted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A single FastHTML process serves the landing site, the investor app and the AI assistants; PostgreSQL holds the factoring and AI data.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Clean integration seams to SoliqOnline/Didox, open banking, CRIF, the CBU registry, and the DIFC SPV / custodian.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Grok (x.ai) is reached over an OpenAI-compatible interface — the model id is configuration, avoiding vendor lock-in.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PROOF · WORKING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The AI is not a slide — it's shipped</a:t>
            </a:r>
          </a:p>
        </p:txBody>
      </p:sp>
      <p:pic>
        <p:nvPicPr>
          <p:cNvPr id="5" name="Picture 4" descr="en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65836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Live chat-based invoice triage in the Factorio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A seller describes an invoice in a sentence; the assistant returns an indicative risk band, advance rate and next-document list.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Built on Grok (x.ai), trilingual, with graceful fallback and full audit logging — the same pattern extends to scoring and reporting.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From prototype to regional platform</a:t>
            </a:r>
          </a:p>
        </p:txBody>
      </p:sp>
      <p:pic>
        <p:nvPicPr>
          <p:cNvPr id="5" name="Picture 4" descr="d5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40590"/>
            <a:ext cx="6583680" cy="6569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15046"/>
                </a:solidFill>
              </a:rPr>
              <a:t>Phased rollout — each phase funds the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Phase 0 (now): AI triage + reporting prototype live.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Phases 1–2 (M1–6): platform GA, SoliqOnline integration, open-banking scoring, volume pricing.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4231B"/>
                </a:solidFill>
              </a:rPr>
              <a:t>•  Phases 3–4 (M6+): DIFC SPV and first international capital, then the Wakala → Sukuk sequence and regional scale.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WHY CONSISTENTE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Production AI, delivered consistently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Consistente Ltd (Tallinn, EU) builds production-grade AI for enterprises — with reproducible pipelines, versioned models and inspectable prompts, not black boxes.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Precedents across financial services and regulated sectors: LSEG, DBRS Morningstar, ARM, Microsoft.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Core capabilities map directly onto this project: document intelligence, applied forecasting/scoring, and agentic workflows with human review.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EU-based, audit-first — the right profile for a bank building AI a regulator will scrutinise.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   What we propose to do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1. Agree the white-label scope and the volume-based commercial terms.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2. Stand up a pilot on live SoliqOnline data; ship the platform GA with the AI triage and scoring engine.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3. In parallel, begin DIFC SPV and fatwa preparation so international capital can follow the operating book.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4231B"/>
                </a:solidFill>
              </a:rPr>
              <a:t>•  Contact: Consistente Ltd · info@consistente.tech · consistente.tech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