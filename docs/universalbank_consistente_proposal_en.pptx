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for Universalbank</a:t>
            </a:r>
          </a:p>
          <a:p>
            <a:r>
              <a:rPr sz="2000">
                <a:solidFill>
                  <a:srgbClr val="415046"/>
                </a:solidFill>
              </a:rPr>
              <a:t>AI-native invoice financing · an international-investor SPV · UAE entry</a:t>
            </a:r>
          </a:p>
          <a:p>
            <a:r>
              <a:rPr sz="1300">
                <a:solidFill>
                  <a:srgbClr val="14231B"/>
                </a:solidFill>
              </a:rPr>
              <a:t>A proposal by Consistente Ltd to build and operate a next-generation, white-label invoice-financing platform for Universalbank — more efficient than the incumbent, priced on volume alone, with an AI core, an international-investor SPV, and a route into the UAE.</a:t>
            </a:r>
          </a:p>
          <a:p>
            <a:r>
              <a:rPr sz="1100">
                <a:solidFill>
                  <a:srgbClr val="415046"/>
                </a:solidFill>
              </a:rPr>
              <a:t>Prepared by Consistente Ltd · Tallinn · info@consistente.tech · consistente.tech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Three moves, one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The gap. Every Uzbek bank rents its factoring product from OzPlanet or FinMakon — Universalbank included (OzPlanet cooperation agreement, Sept 2024). None owns the product, the customer relationship or the data.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1 · Own the platform. A white-label, AI-native platform Universalbank runs under its own brand — the bank owns the product, customers and data — priced on financed volume only.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2 · International capital. An SPV module lets global — and specifically Gulf — investors fund Uzbek receivables. OzPlanet and FinMakon take no foreign or retail money, so this is a clean, uncontested differentiator.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3 · UAE entry. A DIFC SPV and a phased Shariah programme (Murabaha → Wakala → Sukuk) to reach Dubai / DIFC Islamic capital.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Decomposable &amp; live today. Deploy origination first, add the investor / SPV layer later — and the chat-based loan triage and investor reporting are already running in the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THE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Uzbekistan built the perfect rails for invoice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SoliqOnline — the State Tax Committee's platform — has validated, timestamped and archived every B2B e-invoice in the country since January 2020.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Didox connects 350,000+ organisations to it and integrates with 1C — a ready-made supplier base that already exchanges invoices electronically.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Every invoice is government-verified and buyer-confirmed on official record — fraud and debtor-confirmation, factoring's hardest problems, are solved at source.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The market is scaling fast: the CBU reports ~10.6 trillion soums (~$835M) factored in Jan–Sep 2025, about half of it digital — against a ~$2bn addressable market that is still lightly penetrated.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The regulatory window is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Presidential Decree No. 106 (Aug 2024) mandated banks to offer factoring.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ZRU-1058 (Apr 2025) amended the Civil Code to give factoring full legal force, and mandates automated API registration of the bank's collateral priority in the CBU registry — within about an hour of approval.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No new licence is required: Universalbank's existing CBU licence covers this; Factorio operates as white-label technology under the bank's umbrella.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No Uzbek bank has yet built a production-grade SoliqOnline factoring stack with an AI core — the first mover captures structural advantage.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THE INCUMBENTS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OzPlanet &amp; FinMakon own the market — as aggregators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8910"/>
                <a:gridCol w="2708910"/>
                <a:gridCol w="2708910"/>
                <a:gridCol w="27089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OzPlanet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FinMakon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Factorio (Consistente)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Aggregator; bank-set rates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Aggregator (Didox-backed)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White-label marketplace — bank owns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Digital share (Q3 2025)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56% of digital volume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44% of digital volume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New entrant — builds share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Funding 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Banks / MFOs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Banks / factoring 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Banks + investors + retail + SPV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Foreign / retail capital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Yes — SPV + marketplace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Bank owns product &amp;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No — OzPlanet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No — FinMakon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Yes — fully the bank's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AI core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Rule-based; nascent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Nascent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Grok chat triage + reporting, doc intelligence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Pricing to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Per-transaction commission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Per-transaction commission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Volume-only bps (no SaaS licence)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Universalbank already signed a cooperation agreement with OzPlanet (Sept 2024) — so it knows the model. The point of this proposal is not to rent a better aggregator, but to own the product outright. (Market data: CBU, Q3 2025.)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THE STRATEGIC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No Uzbek bank owns its factoring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Today a bank connecting to OzPlanet or FinMakon is a funding partner on someone else's platform — the aggregator owns the brand, the customer relationship and the data.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That is a strategic dependency: the bank cannot differentiate, cannot cross-sell off its own data, and cannot switch without losing the clients.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Factorio flips this. Universalbank runs the platform under its own brand, owns all customer and transaction data, and can export and move it — no platform lock-in.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Same government rails (SoliqOnline, CBU registry), same speed — but the bank owns the asset instead of renting the rails. That ownership is the real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How the money moves — and who gets paid</a:t>
            </a:r>
          </a:p>
        </p:txBody>
      </p:sp>
      <p:pic>
        <p:nvPicPr>
          <p:cNvPr id="5" name="Picture 4" descr="en-15-mone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3029"/>
            <a:ext cx="6583680" cy="1552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Money &amp; payment flow — seller, payer (debtor), platform,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 payer (debtor) is the anchor: a specific, buyer-confirmed obligation on the SoliqOnline record.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 platform advances ~85% now from the capital source (bank, investor or SPV); at maturity the payer settles 100% and the waterfall pays seller, capital and platform.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Because the flow is identical regardless of who funds it, the capital layer is pluggable — bank first, investors/SPV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1 · A BETTER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AI at the core, not bolted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The same end-to-end factoring workflow — submit, verify, fund, settle — but with AI woven through triage, scoring, documents and reporting.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Built on a lean, server-rendered stack (FastHTML + PostgreSQL) — fast to change, cheap to run, easy to white-label under the bank's brand.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Trilingual by design (English · Oʻzbekcha · Russian); the AI answers in the user's language.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The next three slides detail the AI, the credit-scoring engine, and the commercial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BORROWER (ORIGINATION)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The seller's journey — sign-up to cash in 24–48h</a:t>
            </a:r>
          </a:p>
        </p:txBody>
      </p:sp>
      <p:pic>
        <p:nvPicPr>
          <p:cNvPr id="5" name="Picture 4" descr="en-16-originatio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75684"/>
            <a:ext cx="6583680" cy="3867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Origination: SoliqOnline import → AI triage → one-click approval → advance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Manual bank involvement is a single approval click on a pre-populated screen; everything else is automated.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 invoice is imported and verified from SoliqOnline; the debtor is scored; collateral is registered with the CBU in under 60 minutes.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This is Module A — it stands alone and can go live first, funded entirely by the bank's balance sheet.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1 ·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Two conversational surfaces, one Grok core</a:t>
            </a:r>
          </a:p>
        </p:txBody>
      </p:sp>
      <p:pic>
        <p:nvPicPr>
          <p:cNvPr id="5" name="Picture 4" descr="d2-ai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6474"/>
            <a:ext cx="6583680" cy="1405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Chat-based loan triage and chat-based investor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Triage turns a seller's plain-language description into an indicative grade, advance rate and document list — in seconds.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Reporting answers an investor's questions grounded in their own live positions — no invented figures.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Grok scores and explains; a human always approves. Every AI decision is logged and auditable.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1 · CREDIT SCORING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Open-banking-style scoring, Uzbek edition</a:t>
            </a:r>
          </a:p>
        </p:txBody>
      </p:sp>
      <p:pic>
        <p:nvPicPr>
          <p:cNvPr id="5" name="Picture 4" descr="d3-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92925"/>
            <a:ext cx="6583680" cy="17523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Plaid-style data fusion adapted to Uzbekistan's 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 Plaid model is connect an account, read the cash flows, decide. In Uzbekistan the richest feed is SoliqOnline — verified invoices and tax-declared turnover — plus bank transaction data and the CRIF bureau.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A model produces the grade, advance rate and price; Grok writes the plain-language rationale and adverse-action reasons.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Every decision is versioned and reproducible — Consistente's core methodology, and what a regulator will ask for.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What the bank earns on one invoice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8910"/>
                <a:gridCol w="2708910"/>
                <a:gridCol w="2708910"/>
                <a:gridCol w="27089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Cash flow · $10,000 invoice · 85% · 60d · 5%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Advance to seller (85%)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$8,500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Platform → seller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Payer (debtor) pays in full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$10,000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Payer → collection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60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Net balance released to seller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Platform → seller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Discount income (gross)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$500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Capital keeps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60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Platform fee (volume-based)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≈ 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Bank → Consistente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Net income on the invoice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≈ $487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Capital keeps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Day 60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Annualised return on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≈ 30%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Illustrative, per the standard SoliqOnline-verified structure. ~30% annualised on deployed capital compares with 22–28% on unsecured SME lending — at lower risk: the invoice is government-verified, the payer has confirmed the obligation, and the bank holds a registered CBU priority claim. Bank stays profitable to a ~4% default rate.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1 · COMMERCIAL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Volume-only pricing — aligned with the bank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Monthly financed volume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Platform fee (bps of financed volume)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Up to UZS 50 bn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120 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UZS 50–200 bn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90 bps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UZS 200–500 bn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70 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Over UZS 500 bn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55 bps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Illustrative. No SaaS licence, no per-seat, no setup fee — Consistente is paid only when the bank finances an invoice. Options on the table: a revenue-share alternative (a small % of the bank's discount income instead of bps), 12-month bank exclusivity in Uzbekistan, and a Year-3 deferred-equity option structured as new shares (non-dilutive, no board/veto rights). International SPV module: ~60 bps p.a. on invested AUM + a performance share above a hurdle. Final figures to be set with Universalbank.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2 · INTERNATIONAL CAPITAL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An SPV that opens Uzbek receivables to the world</a:t>
            </a:r>
          </a:p>
        </p:txBody>
      </p:sp>
      <p:pic>
        <p:nvPicPr>
          <p:cNvPr id="5" name="Picture 4" descr="d4-s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762" y="1828800"/>
            <a:ext cx="395343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Invoice pool → Factorio → DIFC SPV → international investors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Universalbank remains originator and servicer; a bankruptcy-remote SPV holds the investor-facing interest and channels foreign capital into the invoice pool.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Two tracks off the same asset base: a conventional note/participation for institutional investors, and Shariah structures for Gulf capital.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Investors get the same grounded, AI-assisted reporting — in their language — plus statements and a clean audit trail.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INVESTOR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The investor's journey — onboarding to distribution</a:t>
            </a:r>
          </a:p>
        </p:txBody>
      </p:sp>
      <p:pic>
        <p:nvPicPr>
          <p:cNvPr id="5" name="Picture 4" descr="en-17-investo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6946"/>
            <a:ext cx="6583680" cy="4442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Investor: onboard → commit capital → hold with AI reporting → get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Retail, institutional and Gulf investors onboard once (KYC / accreditation), then fund via the marketplace or the SPV.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They hold positions with on-demand AI portfolio reporting; at maturity, principal + return are distributed automatically.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This is Module B — it plugs onto the same origination engine later, without changing anything a seller or the bank does.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DELIVERY · DECOMPOSABILITY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Two modules — buy one, or both, in sequence</a:t>
            </a:r>
          </a:p>
        </p:txBody>
      </p:sp>
      <p:pic>
        <p:nvPicPr>
          <p:cNvPr id="5" name="Picture 4" descr="en-18-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9319"/>
            <a:ext cx="6583680" cy="7795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Origination (Module A) and Investors/SPV (Module B) are independently deployable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Module A — Origination can be Universalbank's whole first phase: bank-funded factoring, live in weeks, immediately satisfying the Decree-106 mandate.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Module B — Investors &amp; SPV adds the marketplace and DIFC/international capital later, over the same engine, with no rework.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The capital layer is the seam: swap or add funding sources without touching origination — de-risking the programme and the investment.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3 · UAE ENTRY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A phased Shariah programme for DIFC capital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Murabaha SCF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Wakala Fund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Sukuk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Musharaka</a:t>
                      </a:r>
                    </a:p>
                  </a:txBody>
                  <a:tcPr>
                    <a:solidFill>
                      <a:srgbClr val="1F5D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Shariah purity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Low–Med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Time to market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Fastest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Dubai investor appeal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Very high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Capital per deal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Small–Med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Med–Large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Regulatory need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Fatwa only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Fatwa + fund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Fatwa + DFSA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Fatwa + fund</a:t>
                      </a:r>
                    </a:p>
                  </a:txBody>
                  <a:tcPr>
                    <a:solidFill>
                      <a:srgbClr val="EEED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Family offices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Institutional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31B"/>
                          </a:solidFill>
                        </a:rPr>
                        <a:t>Strategic partners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415046"/>
                </a:solidFill>
              </a:rPr>
              <a:t>Recommended path: run them in sequence — Murabaha SCF pilot (M6–12) → Wakala fund → Sukuk. Each phase builds the track record that makes the next credible. All require an AAOIFI-accredited fatwa before deployment.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PILLAR 3 · WHY DUBAI / DIFC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The yield spread is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Uzbek factoring yields of ~20–30% p.a. against Gulf Islamic money-market returns of ~4–6% — an exceptional spread for the risk, given SoliqOnline's structural protections.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Short duration (30–90-day rolling receivables) is rare and highly demanded by Gulf liquidity managers.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Uzbek receivables are uncorrelated with Gulf real estate, regional equities or oil — genuine diversification.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DIFC (DFSA) and ADGM (FSRA) both have mature Islamic-finance frameworks and recognise SPV/Sukuk structures; the UAE's Federal Decree-Law No. 50 of 2022 codifies the contracts.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One process, AI-native, integration-ready</a:t>
            </a:r>
          </a:p>
        </p:txBody>
      </p:sp>
      <p:pic>
        <p:nvPicPr>
          <p:cNvPr id="5" name="Picture 4" descr="d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44483"/>
            <a:ext cx="6583680" cy="1849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Target system architecture with AI components highlighted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A single FastHTML process serves the landing site, the investor app and the AI assistants; PostgreSQL holds the factoring and AI data.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Clean integration seams to SoliqOnline/Didox, open banking, CRIF, the CBU registry, and the DIFC SPV / custodian.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Grok (x.ai) is reached over an OpenAI-compatible interface — the model id is configuration, avoiding vendor lock-in.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PROOF · WORKING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The AI is not a slide — it's shipped</a:t>
            </a:r>
          </a:p>
        </p:txBody>
      </p:sp>
      <p:pic>
        <p:nvPicPr>
          <p:cNvPr id="5" name="Picture 4" descr="en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65836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Live chat-based invoice triage in the Factorio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A seller describes an invoice in a sentence; the assistant returns an indicative risk band, advance rate and next-document list.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Built on Grok (x.ai), trilingual, with graceful fallback and full audit logging — the same pattern extends to scoring and reporting.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DELIVERY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From prototype to regional platform</a:t>
            </a:r>
          </a:p>
        </p:txBody>
      </p:sp>
      <p:pic>
        <p:nvPicPr>
          <p:cNvPr id="5" name="Picture 4" descr="d5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0590"/>
            <a:ext cx="6583680" cy="656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15046"/>
                </a:solidFill>
              </a:rPr>
              <a:t>Phased rollout — each phase funds the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Phase 0 (now): AI triage + reporting prototype live.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Phases 1–2 (M1–6): platform GA, SoliqOnline integration, open-banking scoring, volume pricing.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4231B"/>
                </a:solidFill>
              </a:rPr>
              <a:t>•  Phases 3–4 (M6+): DIFC SPV and first international capital, then the Wakala → Sukuk sequence and regional scale.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WHY CONSISTENTE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Production AI, delivered consistently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Consistente Ltd (Tallinn, EU) builds production-grade AI for enterprises — with reproducible pipelines, versioned models and inspectable prompts, not black boxes.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Precedents across financial services and regulated sectors: LSEG, DBRS Morningstar, ARM, Microsoft.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Core capabilities map directly onto this project: document intelligence, applied forecasting/scoring, and agentic workflows with human review.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EU-based, audit-first — the right profile for a bank building AI a regulator will scrutinise.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   What we propose to do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1. Agree the white-label scope and the volume-based commercial terms.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2. Stand up a pilot on live SoliqOnline data; ship the platform GA with the AI triage and scoring engine.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3. In parallel, begin DIFC SPV and fatwa preparation so international capital can follow the operating book.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4231B"/>
                </a:solidFill>
              </a:rPr>
              <a:t>•  Contact: Consistente Ltd · info@consistente.tech · consistente.tech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